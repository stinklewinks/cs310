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21" r:id="rId1"/>
  </p:sldMasterIdLst>
  <p:notesMasterIdLst>
    <p:notesMasterId r:id="rId24"/>
  </p:notesMasterIdLst>
  <p:sldIdLst>
    <p:sldId id="317" r:id="rId2"/>
    <p:sldId id="261" r:id="rId3"/>
    <p:sldId id="320" r:id="rId4"/>
    <p:sldId id="321" r:id="rId5"/>
    <p:sldId id="322" r:id="rId6"/>
    <p:sldId id="323" r:id="rId7"/>
    <p:sldId id="324" r:id="rId8"/>
    <p:sldId id="325" r:id="rId9"/>
    <p:sldId id="326" r:id="rId10"/>
    <p:sldId id="327" r:id="rId11"/>
    <p:sldId id="328" r:id="rId12"/>
    <p:sldId id="329" r:id="rId13"/>
    <p:sldId id="330" r:id="rId14"/>
    <p:sldId id="331" r:id="rId15"/>
    <p:sldId id="332" r:id="rId16"/>
    <p:sldId id="333" r:id="rId17"/>
    <p:sldId id="334" r:id="rId18"/>
    <p:sldId id="335" r:id="rId19"/>
    <p:sldId id="336" r:id="rId20"/>
    <p:sldId id="337" r:id="rId21"/>
    <p:sldId id="290" r:id="rId22"/>
    <p:sldId id="292" r:id="rId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2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8DAD"/>
    <a:srgbClr val="00A589"/>
    <a:srgbClr val="3333FF"/>
    <a:srgbClr val="333399"/>
    <a:srgbClr val="B2B2B2"/>
    <a:srgbClr val="800000"/>
    <a:srgbClr val="996600"/>
    <a:srgbClr val="FF9999"/>
    <a:srgbClr val="33CC33"/>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23" autoAdjust="0"/>
    <p:restoredTop sz="94687" autoAdjust="0"/>
  </p:normalViewPr>
  <p:slideViewPr>
    <p:cSldViewPr>
      <p:cViewPr varScale="1">
        <p:scale>
          <a:sx n="104" d="100"/>
          <a:sy n="104" d="100"/>
        </p:scale>
        <p:origin x="1422" y="96"/>
      </p:cViewPr>
      <p:guideLst>
        <p:guide orient="horz" pos="2160"/>
        <p:guide pos="2880"/>
        <p:guide pos="2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dirty="0"/>
          </a:p>
        </p:txBody>
      </p:sp>
      <p:sp>
        <p:nvSpPr>
          <p:cNvPr id="2529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dirty="0"/>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29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29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dirty="0"/>
          </a:p>
        </p:txBody>
      </p:sp>
      <p:sp>
        <p:nvSpPr>
          <p:cNvPr id="2529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9A5D1D8E-74B9-4DAF-813C-D54AEA716971}" type="slidenum">
              <a:rPr lang="en-US"/>
              <a:pPr>
                <a:defRPr/>
              </a:pPr>
              <a:t>‹#›</a:t>
            </a:fld>
            <a:endParaRPr lang="en-US" dirty="0"/>
          </a:p>
        </p:txBody>
      </p:sp>
    </p:spTree>
    <p:extLst>
      <p:ext uri="{BB962C8B-B14F-4D97-AF65-F5344CB8AC3E}">
        <p14:creationId xmlns:p14="http://schemas.microsoft.com/office/powerpoint/2010/main" val="14455945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63890E3-1EA1-426D-856A-C2C61D312452}" type="slidenum">
              <a:rPr lang="en-US" altLang="en-US" smtClean="0"/>
              <a:pPr eaLnBrk="1" hangingPunct="1"/>
              <a:t>1</a:t>
            </a:fld>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A129149-73BB-4064-B7B6-F0E1C37AFB7B}" type="slidenum">
              <a:rPr lang="en-US" altLang="en-US" smtClean="0"/>
              <a:pPr eaLnBrk="1" hangingPunct="1"/>
              <a:t>2</a:t>
            </a:fld>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FD7E869-40B8-48E9-9AD2-705269ED999C}" type="slidenum">
              <a:rPr lang="en-US" altLang="en-US" smtClean="0"/>
              <a:pPr eaLnBrk="1" hangingPunct="1"/>
              <a:t>3</a:t>
            </a:fld>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7836E735-792F-43C2-92AF-8F44A95B5056}" type="slidenum">
              <a:rPr lang="en-US" altLang="en-US" smtClean="0"/>
              <a:pPr eaLnBrk="1" hangingPunct="1"/>
              <a:t>21</a:t>
            </a:fld>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2F9327B-28DF-4F41-8702-65C06BDA28D2}" type="slidenum">
              <a:rPr lang="en-US" altLang="en-US" smtClean="0"/>
              <a:pPr eaLnBrk="1" hangingPunct="1"/>
              <a:t>22</a:t>
            </a:fld>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jpe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3090672"/>
            <a:ext cx="7747000" cy="377026"/>
          </a:xfrm>
        </p:spPr>
        <p:txBody>
          <a:bodyPr anchor="b"/>
          <a:lstStyle>
            <a:lvl1pPr algn="ctr">
              <a:defRPr sz="2800">
                <a:solidFill>
                  <a:schemeClr val="accent2"/>
                </a:solidFill>
              </a:defRPr>
            </a:lvl1pPr>
          </a:lstStyle>
          <a:p>
            <a:r>
              <a:rPr lang="en-US"/>
              <a:t>Click to edit Master title style</a:t>
            </a:r>
            <a:endParaRPr lang="en-US" dirty="0"/>
          </a:p>
        </p:txBody>
      </p:sp>
      <p:sp>
        <p:nvSpPr>
          <p:cNvPr id="3" name="Subtitle 2"/>
          <p:cNvSpPr>
            <a:spLocks noGrp="1"/>
          </p:cNvSpPr>
          <p:nvPr>
            <p:ph type="subTitle" idx="1"/>
          </p:nvPr>
        </p:nvSpPr>
        <p:spPr>
          <a:xfrm>
            <a:off x="698500" y="3730752"/>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1" name="Picture 10" descr="Title_Slid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pic>
        <p:nvPicPr>
          <p:cNvPr id="8" name="Picture 7"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80" y="6257889"/>
            <a:ext cx="634845" cy="262424"/>
          </a:xfrm>
          <a:prstGeom prst="rect">
            <a:avLst/>
          </a:prstGeom>
        </p:spPr>
      </p:pic>
      <p:sp>
        <p:nvSpPr>
          <p:cNvPr id="5" name="Rectangle 4"/>
          <p:cNvSpPr/>
          <p:nvPr/>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p:nvPicPr>
        <p:blipFill rotWithShape="1">
          <a:blip r:embed="rId6"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p:nvPicPr>
        <p:blipFill rotWithShape="1">
          <a:blip r:embed="rId9"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9" name="TextBox 8"/>
          <p:cNvSpPr txBox="1"/>
          <p:nvPr/>
        </p:nvSpPr>
        <p:spPr>
          <a:xfrm>
            <a:off x="1015924" y="6222910"/>
            <a:ext cx="6400800" cy="230832"/>
          </a:xfrm>
          <a:prstGeom prst="rect">
            <a:avLst/>
          </a:prstGeom>
          <a:noFill/>
        </p:spPr>
        <p:txBody>
          <a:bodyPr wrap="square" rtlCol="0">
            <a:spAutoFit/>
          </a:bodyPr>
          <a:lstStyle/>
          <a:p>
            <a:pPr algn="ctr"/>
            <a:r>
              <a:rPr lang="en-US" sz="900" dirty="0">
                <a:solidFill>
                  <a:schemeClr val="accent2"/>
                </a:solidFill>
              </a:rPr>
              <a:t>C++ Programming: Program Design Including Data Structures, Eighth</a:t>
            </a:r>
            <a:r>
              <a:rPr lang="en-US" sz="900" baseline="0" dirty="0">
                <a:solidFill>
                  <a:schemeClr val="accent2"/>
                </a:solidFill>
              </a:rPr>
              <a:t> </a:t>
            </a:r>
            <a:r>
              <a:rPr lang="en-US" sz="900" dirty="0">
                <a:solidFill>
                  <a:schemeClr val="accent2"/>
                </a:solidFill>
              </a:rPr>
              <a:t>Edition</a:t>
            </a:r>
          </a:p>
        </p:txBody>
      </p:sp>
      <p:sp>
        <p:nvSpPr>
          <p:cNvPr id="6" name="Footer Placeholder 5"/>
          <p:cNvSpPr>
            <a:spLocks noGrp="1"/>
          </p:cNvSpPr>
          <p:nvPr>
            <p:ph type="ftr" sz="quarter" idx="10"/>
          </p:nvPr>
        </p:nvSpPr>
        <p:spPr>
          <a:xfrm>
            <a:off x="1015922" y="6456817"/>
            <a:ext cx="6399830" cy="366183"/>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5" name="Picture 4" descr="CL_Logo_DRAWN.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6" name="Picture 5" descr="Rules_Single_A.png"/>
          <p:cNvPicPr>
            <a:picLocks noChangeAspect="1"/>
          </p:cNvPicPr>
          <p:nvPr/>
        </p:nvPicPr>
        <p:blipFill rotWithShape="1">
          <a:blip r:embed="rId3"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p:nvPicPr>
        <p:blipFill rotWithShape="1">
          <a:blip r:embed="rId7"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p:nvPicPr>
        <p:blipFill rotWithShape="1">
          <a:blip r:embed="rId9"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9" name="Footer Placeholder 3">
            <a:extLst>
              <a:ext uri="{FF2B5EF4-FFF2-40B4-BE49-F238E27FC236}">
                <a16:creationId xmlns:a16="http://schemas.microsoft.com/office/drawing/2014/main" id="{B2360C09-3CB5-4302-92F8-14762F0318BD}"/>
              </a:ext>
            </a:extLst>
          </p:cNvPr>
          <p:cNvSpPr txBox="1">
            <a:spLocks/>
          </p:cNvSpPr>
          <p:nvPr userDrawn="1"/>
        </p:nvSpPr>
        <p:spPr>
          <a:xfrm>
            <a:off x="1600200" y="6523980"/>
            <a:ext cx="6400800" cy="302281"/>
          </a:xfrm>
          <a:prstGeom prst="rect">
            <a:avLst/>
          </a:prstGeom>
        </p:spPr>
        <p:txBody>
          <a:bodyPr vert="horz" lIns="91440" tIns="45720" rIns="91440" bIns="45720" rtlCol="0" anchor="ctr"/>
          <a:lstStyle>
            <a:defPPr>
              <a:defRPr lang="en-US"/>
            </a:defPPr>
            <a:lvl1pPr algn="ctr" rtl="0" fontAlgn="base">
              <a:spcBef>
                <a:spcPct val="0"/>
              </a:spcBef>
              <a:spcAft>
                <a:spcPct val="0"/>
              </a:spcAft>
              <a:defRPr sz="600"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Split Content with Objec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a:xfrm>
            <a:off x="365125" y="1538818"/>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9" name="Content Placeholder 2"/>
          <p:cNvSpPr>
            <a:spLocks noGrp="1"/>
          </p:cNvSpPr>
          <p:nvPr>
            <p:ph idx="11"/>
          </p:nvPr>
        </p:nvSpPr>
        <p:spPr>
          <a:xfrm>
            <a:off x="365125" y="3997249"/>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3">
            <a:extLst>
              <a:ext uri="{FF2B5EF4-FFF2-40B4-BE49-F238E27FC236}">
                <a16:creationId xmlns:a16="http://schemas.microsoft.com/office/drawing/2014/main" id="{8A2F5063-F6DC-4C0E-B572-B23F151AC31F}"/>
              </a:ext>
            </a:extLst>
          </p:cNvPr>
          <p:cNvSpPr txBox="1">
            <a:spLocks/>
          </p:cNvSpPr>
          <p:nvPr userDrawn="1"/>
        </p:nvSpPr>
        <p:spPr>
          <a:xfrm>
            <a:off x="1600200" y="6523980"/>
            <a:ext cx="6400800" cy="302281"/>
          </a:xfrm>
          <a:prstGeom prst="rect">
            <a:avLst/>
          </a:prstGeom>
        </p:spPr>
        <p:txBody>
          <a:bodyPr vert="horz" lIns="91440" tIns="45720" rIns="91440" bIns="45720" rtlCol="0" anchor="ctr"/>
          <a:lstStyle>
            <a:defPPr>
              <a:defRPr lang="en-US"/>
            </a:defPPr>
            <a:lvl1pPr algn="ctr" rtl="0" fontAlgn="base">
              <a:spcBef>
                <a:spcPct val="0"/>
              </a:spcBef>
              <a:spcAft>
                <a:spcPct val="0"/>
              </a:spcAft>
              <a:defRPr sz="600"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33053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_ 6_ Content with Objec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a:xfrm>
            <a:off x="365125" y="1538819"/>
            <a:ext cx="8415338" cy="442382"/>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9" name="Content Placeholder 2"/>
          <p:cNvSpPr>
            <a:spLocks noGrp="1"/>
          </p:cNvSpPr>
          <p:nvPr>
            <p:ph idx="11"/>
          </p:nvPr>
        </p:nvSpPr>
        <p:spPr>
          <a:xfrm>
            <a:off x="394164" y="2209800"/>
            <a:ext cx="8415338" cy="533400"/>
          </a:xfrm>
        </p:spPr>
        <p:txBody>
          <a:bodyPr/>
          <a:lstStyle>
            <a:lvl1pPr marL="171450" indent="-171450">
              <a:defRPr/>
            </a:lvl1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levelmkk</a:t>
            </a:r>
            <a:endParaRPr lang="en-US" dirty="0"/>
          </a:p>
        </p:txBody>
      </p:sp>
      <p:sp>
        <p:nvSpPr>
          <p:cNvPr id="10" name="Content Placeholder 2"/>
          <p:cNvSpPr>
            <a:spLocks noGrp="1"/>
          </p:cNvSpPr>
          <p:nvPr>
            <p:ph idx="12"/>
          </p:nvPr>
        </p:nvSpPr>
        <p:spPr>
          <a:xfrm>
            <a:off x="374469" y="2895600"/>
            <a:ext cx="8415338" cy="533400"/>
          </a:xfrm>
        </p:spPr>
        <p:txBody>
          <a:bodyPr/>
          <a:lstStyle>
            <a:lvl1pPr marL="171450" indent="-171450">
              <a:defRPr/>
            </a:lvl1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levelmkk</a:t>
            </a:r>
            <a:endParaRPr lang="en-US" dirty="0"/>
          </a:p>
        </p:txBody>
      </p:sp>
      <p:sp>
        <p:nvSpPr>
          <p:cNvPr id="11" name="Content Placeholder 2"/>
          <p:cNvSpPr>
            <a:spLocks noGrp="1"/>
          </p:cNvSpPr>
          <p:nvPr>
            <p:ph idx="13"/>
          </p:nvPr>
        </p:nvSpPr>
        <p:spPr>
          <a:xfrm>
            <a:off x="363583" y="3657600"/>
            <a:ext cx="8415338" cy="533400"/>
          </a:xfrm>
        </p:spPr>
        <p:txBody>
          <a:bodyPr/>
          <a:lstStyle>
            <a:lvl1pPr marL="171450" indent="-171450">
              <a:defRPr/>
            </a:lvl1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levelmkk</a:t>
            </a:r>
            <a:endParaRPr lang="en-US" dirty="0"/>
          </a:p>
        </p:txBody>
      </p:sp>
      <p:sp>
        <p:nvSpPr>
          <p:cNvPr id="12" name="Content Placeholder 2"/>
          <p:cNvSpPr>
            <a:spLocks noGrp="1"/>
          </p:cNvSpPr>
          <p:nvPr>
            <p:ph idx="14"/>
          </p:nvPr>
        </p:nvSpPr>
        <p:spPr>
          <a:xfrm>
            <a:off x="361507" y="4495800"/>
            <a:ext cx="8415338" cy="533400"/>
          </a:xfrm>
        </p:spPr>
        <p:txBody>
          <a:bodyPr/>
          <a:lstStyle>
            <a:lvl1pPr marL="171450" indent="-171450">
              <a:defRPr/>
            </a:lvl1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levelmkk</a:t>
            </a:r>
            <a:endParaRPr lang="en-US" dirty="0"/>
          </a:p>
        </p:txBody>
      </p:sp>
      <p:sp>
        <p:nvSpPr>
          <p:cNvPr id="14" name="Content Placeholder 2"/>
          <p:cNvSpPr>
            <a:spLocks noGrp="1"/>
          </p:cNvSpPr>
          <p:nvPr>
            <p:ph idx="15"/>
          </p:nvPr>
        </p:nvSpPr>
        <p:spPr>
          <a:xfrm>
            <a:off x="357051" y="5181600"/>
            <a:ext cx="8415338" cy="533400"/>
          </a:xfrm>
        </p:spPr>
        <p:txBody>
          <a:bodyPr/>
          <a:lstStyle>
            <a:lvl1pPr marL="171450" indent="-171450">
              <a:defRPr/>
            </a:lvl1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levelmkk</a:t>
            </a:r>
            <a:endParaRPr lang="en-US" dirty="0"/>
          </a:p>
        </p:txBody>
      </p:sp>
      <p:sp>
        <p:nvSpPr>
          <p:cNvPr id="15" name="Footer Placeholder 3">
            <a:extLst>
              <a:ext uri="{FF2B5EF4-FFF2-40B4-BE49-F238E27FC236}">
                <a16:creationId xmlns:a16="http://schemas.microsoft.com/office/drawing/2014/main" id="{FEB8F184-6291-46F7-9B22-0C1BBB86C7D6}"/>
              </a:ext>
            </a:extLst>
          </p:cNvPr>
          <p:cNvSpPr txBox="1">
            <a:spLocks/>
          </p:cNvSpPr>
          <p:nvPr userDrawn="1"/>
        </p:nvSpPr>
        <p:spPr>
          <a:xfrm>
            <a:off x="1600200" y="6523980"/>
            <a:ext cx="6400800" cy="302281"/>
          </a:xfrm>
          <a:prstGeom prst="rect">
            <a:avLst/>
          </a:prstGeom>
        </p:spPr>
        <p:txBody>
          <a:bodyPr vert="horz" lIns="91440" tIns="45720" rIns="91440" bIns="45720" rtlCol="0" anchor="ctr"/>
          <a:lstStyle>
            <a:defPPr>
              <a:defRPr lang="en-US"/>
            </a:defPPr>
            <a:lvl1pPr algn="ctr" rtl="0" fontAlgn="base">
              <a:spcBef>
                <a:spcPct val="0"/>
              </a:spcBef>
              <a:spcAft>
                <a:spcPct val="0"/>
              </a:spcAft>
              <a:defRPr sz="600"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2720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Multiple Content with Objec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a:xfrm>
            <a:off x="365125" y="1538819"/>
            <a:ext cx="8415338" cy="366182"/>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9" name="Content Placeholder 2"/>
          <p:cNvSpPr>
            <a:spLocks noGrp="1"/>
          </p:cNvSpPr>
          <p:nvPr>
            <p:ph idx="11"/>
          </p:nvPr>
        </p:nvSpPr>
        <p:spPr>
          <a:xfrm>
            <a:off x="361507" y="2057400"/>
            <a:ext cx="8415338" cy="3461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2"/>
          </p:nvPr>
        </p:nvSpPr>
        <p:spPr>
          <a:xfrm>
            <a:off x="381000" y="2514600"/>
            <a:ext cx="8415338" cy="3461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3"/>
          </p:nvPr>
        </p:nvSpPr>
        <p:spPr>
          <a:xfrm>
            <a:off x="352697" y="3050192"/>
            <a:ext cx="8415338" cy="3461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4"/>
          </p:nvPr>
        </p:nvSpPr>
        <p:spPr>
          <a:xfrm>
            <a:off x="381000" y="3581400"/>
            <a:ext cx="8415338" cy="3461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5"/>
          </p:nvPr>
        </p:nvSpPr>
        <p:spPr>
          <a:xfrm>
            <a:off x="369361" y="4038600"/>
            <a:ext cx="8415338" cy="3461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6"/>
          </p:nvPr>
        </p:nvSpPr>
        <p:spPr>
          <a:xfrm>
            <a:off x="381000" y="4495800"/>
            <a:ext cx="8415338" cy="3461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7"/>
          </p:nvPr>
        </p:nvSpPr>
        <p:spPr>
          <a:xfrm>
            <a:off x="381000" y="4953000"/>
            <a:ext cx="8415338" cy="3461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p:cNvSpPr>
            <a:spLocks noGrp="1"/>
          </p:cNvSpPr>
          <p:nvPr>
            <p:ph idx="18"/>
          </p:nvPr>
        </p:nvSpPr>
        <p:spPr>
          <a:xfrm>
            <a:off x="381000" y="5410200"/>
            <a:ext cx="8415338" cy="3461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2"/>
          <p:cNvSpPr>
            <a:spLocks noGrp="1"/>
          </p:cNvSpPr>
          <p:nvPr>
            <p:ph idx="19"/>
          </p:nvPr>
        </p:nvSpPr>
        <p:spPr>
          <a:xfrm>
            <a:off x="381000" y="5879350"/>
            <a:ext cx="8415338" cy="3461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Footer Placeholder 3">
            <a:extLst>
              <a:ext uri="{FF2B5EF4-FFF2-40B4-BE49-F238E27FC236}">
                <a16:creationId xmlns:a16="http://schemas.microsoft.com/office/drawing/2014/main" id="{F1A6EB9C-69E6-44F7-B3AB-68CE2E47D95B}"/>
              </a:ext>
            </a:extLst>
          </p:cNvPr>
          <p:cNvSpPr txBox="1">
            <a:spLocks/>
          </p:cNvSpPr>
          <p:nvPr userDrawn="1"/>
        </p:nvSpPr>
        <p:spPr>
          <a:xfrm>
            <a:off x="1600200" y="6523980"/>
            <a:ext cx="6400800" cy="302281"/>
          </a:xfrm>
          <a:prstGeom prst="rect">
            <a:avLst/>
          </a:prstGeom>
        </p:spPr>
        <p:txBody>
          <a:bodyPr vert="horz" lIns="91440" tIns="45720" rIns="91440" bIns="45720" rtlCol="0" anchor="ctr"/>
          <a:lstStyle>
            <a:defPPr>
              <a:defRPr lang="en-US"/>
            </a:defPPr>
            <a:lvl1pPr algn="ctr" rtl="0" fontAlgn="base">
              <a:spcBef>
                <a:spcPct val="0"/>
              </a:spcBef>
              <a:spcAft>
                <a:spcPct val="0"/>
              </a:spcAft>
              <a:defRPr sz="600"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24544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Tab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sp>
        <p:nvSpPr>
          <p:cNvPr id="9" name="Content Placeholder 2"/>
          <p:cNvSpPr>
            <a:spLocks noGrp="1"/>
          </p:cNvSpPr>
          <p:nvPr>
            <p:ph idx="12"/>
          </p:nvPr>
        </p:nvSpPr>
        <p:spPr>
          <a:xfrm>
            <a:off x="365125" y="3997249"/>
            <a:ext cx="8415338"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849045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Figur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5" name="Text Placeholder 4"/>
          <p:cNvSpPr>
            <a:spLocks noGrp="1"/>
          </p:cNvSpPr>
          <p:nvPr>
            <p:ph type="body" sz="quarter" idx="11" hasCustomPrompt="1"/>
          </p:nvPr>
        </p:nvSpPr>
        <p:spPr>
          <a:xfrm>
            <a:off x="1066800" y="5102423"/>
            <a:ext cx="6949440" cy="297004"/>
          </a:xfrm>
        </p:spPr>
        <p:txBody>
          <a:bodyPr lIns="45720" tIns="45720" rIns="45720" bIns="45720"/>
          <a:lstStyle>
            <a:lvl1pPr marL="0" indent="0">
              <a:buNone/>
              <a:defRPr sz="1400" b="0">
                <a:solidFill>
                  <a:srgbClr val="6A6466"/>
                </a:solidFill>
              </a:defRPr>
            </a:lvl1pPr>
          </a:lstStyle>
          <a:p>
            <a:pPr lvl="0"/>
            <a:r>
              <a:rPr lang="en-US" dirty="0"/>
              <a:t>&lt;FIGURE #-# apply bold&gt; &lt;Figure caption text normal&gt;</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415393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10" name="Text Placeholder 4"/>
          <p:cNvSpPr>
            <a:spLocks noGrp="1"/>
          </p:cNvSpPr>
          <p:nvPr>
            <p:ph type="body" sz="quarter" idx="11" hasCustomPrompt="1"/>
          </p:nvPr>
        </p:nvSpPr>
        <p:spPr>
          <a:xfrm>
            <a:off x="990600" y="1340048"/>
            <a:ext cx="6949440" cy="297004"/>
          </a:xfrm>
        </p:spPr>
        <p:txBody>
          <a:bodyPr lIns="45720" tIns="45720" rIns="45720" bIns="45720"/>
          <a:lstStyle>
            <a:lvl1pPr marL="0" indent="0">
              <a:buNone/>
              <a:defRPr sz="1400" b="0" baseline="0">
                <a:solidFill>
                  <a:srgbClr val="6A6466"/>
                </a:solidFill>
              </a:defRPr>
            </a:lvl1pPr>
          </a:lstStyle>
          <a:p>
            <a:pPr lvl="0"/>
            <a:r>
              <a:rPr lang="en-US" dirty="0"/>
              <a:t>&lt;TABLE #-# apply bold&gt; &lt;Table title normal&gt;</a:t>
            </a:r>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2287905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Content Picture">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sp>
        <p:nvSpPr>
          <p:cNvPr id="3" name="Content Placeholder 2"/>
          <p:cNvSpPr>
            <a:spLocks noGrp="1"/>
          </p:cNvSpPr>
          <p:nvPr>
            <p:ph idx="1"/>
          </p:nvPr>
        </p:nvSpPr>
        <p:spPr>
          <a:xfrm>
            <a:off x="365125" y="1538818"/>
            <a:ext cx="3673475" cy="1412951"/>
          </a:xfrm>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7" name="Picture 16"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18" name="Picture 17"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11" name="Text Placeholder 4"/>
          <p:cNvSpPr>
            <a:spLocks noGrp="1"/>
          </p:cNvSpPr>
          <p:nvPr>
            <p:ph type="body" sz="quarter" idx="12" hasCustomPrompt="1"/>
          </p:nvPr>
        </p:nvSpPr>
        <p:spPr>
          <a:xfrm>
            <a:off x="4572000" y="5722796"/>
            <a:ext cx="4114800" cy="297004"/>
          </a:xfrm>
        </p:spPr>
        <p:txBody>
          <a:bodyPr lIns="91440" tIns="45720" rIns="91440" bIns="45720"/>
          <a:lstStyle>
            <a:lvl1pPr marL="0" indent="0">
              <a:buNone/>
              <a:defRPr sz="1400" b="0">
                <a:solidFill>
                  <a:srgbClr val="6A6466"/>
                </a:solidFill>
              </a:defRPr>
            </a:lvl1pPr>
          </a:lstStyle>
          <a:p>
            <a:pPr lvl="0"/>
            <a:r>
              <a:rPr lang="en-US" dirty="0"/>
              <a:t>&lt;FIGURE #-# apply bold&gt; &lt;Figure caption text normal&gt;</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1239122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a:t>Click to edit Master title style</a:t>
            </a:r>
            <a:endParaRPr lang="en-US" dirty="0"/>
          </a:p>
        </p:txBody>
      </p:sp>
      <p:pic>
        <p:nvPicPr>
          <p:cNvPr id="8" name="Picture 7"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1" name="Picture 20" descr="CL_Logo_DRAW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089" y="6236387"/>
            <a:ext cx="1215590" cy="502487"/>
          </a:xfrm>
          <a:prstGeom prst="rect">
            <a:avLst/>
          </a:prstGeom>
        </p:spPr>
      </p:pic>
      <p:pic>
        <p:nvPicPr>
          <p:cNvPr id="22" name="Picture 21" descr="Rules_Single_A.png"/>
          <p:cNvPicPr>
            <a:picLocks noChangeAspect="1"/>
          </p:cNvPicPr>
          <p:nvPr/>
        </p:nvPicPr>
        <p:blipFill rotWithShape="1">
          <a:blip r:embed="rId5"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1336393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a:t>Click to edit Master title style</a:t>
            </a:r>
            <a:endParaRPr lang="en-US" dirty="0"/>
          </a:p>
        </p:txBody>
      </p:sp>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3"/>
          </p:nvPr>
        </p:nvSpPr>
        <p:spPr>
          <a:xfrm>
            <a:off x="1014984" y="6455663"/>
            <a:ext cx="6400800" cy="365760"/>
          </a:xfrm>
          <a:prstGeom prst="rect">
            <a:avLst/>
          </a:prstGeom>
        </p:spPr>
        <p:txBody>
          <a:bodyPr vert="horz" lIns="91440" tIns="45720" rIns="91440" bIns="45720" rtlCol="0" anchor="ctr"/>
          <a:lstStyle>
            <a:lvl1pPr algn="ctr">
              <a:defRPr sz="600">
                <a:solidFill>
                  <a:schemeClr val="tx1"/>
                </a:solidFill>
              </a:defRPr>
            </a:lvl1pPr>
          </a:lstStyle>
          <a:p>
            <a:pPr>
              <a:defRPr/>
            </a:pPr>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
        <p:nvSpPr>
          <p:cNvPr id="7" name="Slide Number Placeholder 5"/>
          <p:cNvSpPr txBox="1">
            <a:spLocks/>
          </p:cNvSpPr>
          <p:nvPr/>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4222" r:id="rId1"/>
    <p:sldLayoutId id="2147484223" r:id="rId2"/>
    <p:sldLayoutId id="2147484224" r:id="rId3"/>
    <p:sldLayoutId id="2147484225" r:id="rId4"/>
    <p:sldLayoutId id="2147484233" r:id="rId5"/>
    <p:sldLayoutId id="2147484232" r:id="rId6"/>
    <p:sldLayoutId id="2147484226" r:id="rId7"/>
    <p:sldLayoutId id="2147484227" r:id="rId8"/>
    <p:sldLayoutId id="2147484228" r:id="rId9"/>
    <p:sldLayoutId id="2147484229" r:id="rId10"/>
    <p:sldLayoutId id="2147484230" r:id="rId11"/>
    <p:sldLayoutId id="2147484231" r:id="rId12"/>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698500" y="3098238"/>
            <a:ext cx="7747000" cy="369460"/>
          </a:xfrm>
        </p:spPr>
        <p:txBody>
          <a:bodyPr/>
          <a:lstStyle/>
          <a:p>
            <a:r>
              <a:rPr lang="en-US" altLang="en-US" dirty="0">
                <a:latin typeface="+mn-lt"/>
              </a:rPr>
              <a:t>Chapter 9</a:t>
            </a:r>
          </a:p>
        </p:txBody>
      </p:sp>
      <p:sp>
        <p:nvSpPr>
          <p:cNvPr id="3" name="Subtitle 2"/>
          <p:cNvSpPr>
            <a:spLocks noGrp="1"/>
          </p:cNvSpPr>
          <p:nvPr>
            <p:ph type="subTitle" idx="1"/>
          </p:nvPr>
        </p:nvSpPr>
        <p:spPr/>
        <p:txBody>
          <a:bodyPr/>
          <a:lstStyle/>
          <a:p>
            <a:r>
              <a:rPr lang="en-US" altLang="en-US" dirty="0">
                <a:solidFill>
                  <a:schemeClr val="tx1"/>
                </a:solidFill>
              </a:rPr>
              <a:t>Records (</a:t>
            </a:r>
            <a:r>
              <a:rPr lang="en-US" altLang="en-US" b="1" dirty="0">
                <a:solidFill>
                  <a:schemeClr val="tx1"/>
                </a:solidFill>
                <a:latin typeface="Courier New" panose="02070309020205020404" pitchFamily="49" charset="0"/>
                <a:cs typeface="Courier New" panose="02070309020205020404" pitchFamily="49" charset="0"/>
              </a:rPr>
              <a:t>structs</a:t>
            </a:r>
            <a:r>
              <a:rPr lang="en-US" altLang="en-US" dirty="0">
                <a:solidFill>
                  <a:schemeClr val="tx1"/>
                </a:solidFill>
              </a:rPr>
              <a:t>)</a:t>
            </a:r>
            <a:endParaRPr lang="en-US" dirty="0">
              <a:solidFill>
                <a:schemeClr val="tx1"/>
              </a:solidFill>
            </a:endParaRPr>
          </a:p>
        </p:txBody>
      </p:sp>
      <p:sp>
        <p:nvSpPr>
          <p:cNvPr id="4" name="Footer Placeholder 5">
            <a:extLst>
              <a:ext uri="{FF2B5EF4-FFF2-40B4-BE49-F238E27FC236}">
                <a16:creationId xmlns:a16="http://schemas.microsoft.com/office/drawing/2014/main" id="{1BC9EE71-E4D6-4D1D-95E8-16C0A66F48B3}"/>
              </a:ext>
            </a:extLst>
          </p:cNvPr>
          <p:cNvSpPr>
            <a:spLocks noGrp="1"/>
          </p:cNvSpPr>
          <p:nvPr>
            <p:ph type="ftr" sz="quarter" idx="10"/>
          </p:nvPr>
        </p:nvSpPr>
        <p:spPr>
          <a:xfrm>
            <a:off x="1015922" y="6456817"/>
            <a:ext cx="6399830" cy="366183"/>
          </a:xfrm>
        </p:spPr>
        <p:txBody>
          <a:bodyPr/>
          <a:lstStyle>
            <a:lvl1pPr>
              <a:defRPr sz="600"/>
            </a:lvl1pPr>
          </a:lstStyle>
          <a:p>
            <a:r>
              <a:rPr lang="en-US" dirty="0"/>
              <a:t>© 2018 Cengage Learning. All Rights Reserved. May not be copied, scanned, or duplicated, in whole or in part, except for use as permitted in a license distributed with a certain product or service or otherwise on a password-protected website for classroom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dirty="0">
                <a:latin typeface="+mn-lt"/>
              </a:rPr>
              <a:t>Objectives (1 of 2)</a:t>
            </a:r>
          </a:p>
        </p:txBody>
      </p:sp>
      <p:sp>
        <p:nvSpPr>
          <p:cNvPr id="15363" name="Rectangle 3"/>
          <p:cNvSpPr>
            <a:spLocks noGrp="1" noChangeArrowheads="1"/>
          </p:cNvSpPr>
          <p:nvPr>
            <p:ph idx="1"/>
          </p:nvPr>
        </p:nvSpPr>
        <p:spPr>
          <a:xfrm>
            <a:off x="365125" y="1538818"/>
            <a:ext cx="8415338" cy="1992853"/>
          </a:xfrm>
        </p:spPr>
        <p:txBody>
          <a:bodyPr/>
          <a:lstStyle/>
          <a:p>
            <a:pPr eaLnBrk="1" hangingPunct="1"/>
            <a:r>
              <a:rPr lang="en-US" altLang="en-US" dirty="0"/>
              <a:t>In this chapter, you will:</a:t>
            </a:r>
          </a:p>
          <a:p>
            <a:pPr lvl="1" eaLnBrk="1" hangingPunct="1"/>
            <a:r>
              <a:rPr lang="en-US" altLang="en-US" dirty="0"/>
              <a:t>Learn about records (</a:t>
            </a:r>
            <a:r>
              <a:rPr lang="en-US" altLang="en-US" b="1" dirty="0">
                <a:latin typeface="Courier New" pitchFamily="49" charset="0"/>
              </a:rPr>
              <a:t>struct</a:t>
            </a:r>
            <a:r>
              <a:rPr lang="en-US" altLang="en-US" b="1" dirty="0"/>
              <a:t>s</a:t>
            </a:r>
            <a:r>
              <a:rPr lang="en-US" altLang="en-US" dirty="0"/>
              <a:t>)</a:t>
            </a:r>
          </a:p>
          <a:p>
            <a:pPr lvl="1" eaLnBrk="1" hangingPunct="1"/>
            <a:r>
              <a:rPr lang="en-US" altLang="en-US" dirty="0"/>
              <a:t>Examine various operations on a </a:t>
            </a:r>
            <a:r>
              <a:rPr lang="en-US" altLang="en-US" b="1" dirty="0">
                <a:latin typeface="Courier New" pitchFamily="49" charset="0"/>
              </a:rPr>
              <a:t>struct</a:t>
            </a:r>
            <a:endParaRPr lang="en-US" altLang="en-US" b="1" dirty="0"/>
          </a:p>
          <a:p>
            <a:pPr lvl="1"/>
            <a:r>
              <a:rPr lang="en-US" dirty="0"/>
              <a:t>Explore ways to manipulate data using a </a:t>
            </a:r>
            <a:r>
              <a:rPr lang="en-US" b="1" dirty="0">
                <a:latin typeface="Courier New" pitchFamily="49" charset="0"/>
              </a:rPr>
              <a:t>struct</a:t>
            </a:r>
            <a:endParaRPr lang="en-US" altLang="en-US" b="1" dirty="0">
              <a:latin typeface="Courier New" pitchFamily="49" charset="0"/>
            </a:endParaRPr>
          </a:p>
          <a:p>
            <a:pPr lvl="1" eaLnBrk="1" hangingPunct="1"/>
            <a:r>
              <a:rPr lang="en-US" altLang="en-US" dirty="0"/>
              <a:t>Learn about the relationship between a </a:t>
            </a:r>
            <a:r>
              <a:rPr lang="en-US" altLang="en-US" b="1" dirty="0">
                <a:latin typeface="Courier New" pitchFamily="49" charset="0"/>
                <a:cs typeface="Courier New" pitchFamily="49" charset="0"/>
              </a:rPr>
              <a:t>struct</a:t>
            </a:r>
            <a:r>
              <a:rPr lang="en-US" altLang="en-US" dirty="0"/>
              <a:t> and functions</a:t>
            </a:r>
          </a:p>
          <a:p>
            <a:pPr lvl="1" eaLnBrk="1" hangingPunct="1"/>
            <a:r>
              <a:rPr lang="en-US" altLang="en-US" dirty="0"/>
              <a:t>Examine the difference between arrays and </a:t>
            </a:r>
            <a:r>
              <a:rPr lang="en-US" altLang="en-US" b="1" dirty="0">
                <a:latin typeface="Courier New" pitchFamily="49" charset="0"/>
                <a:cs typeface="Courier New" pitchFamily="49" charset="0"/>
              </a:rPr>
              <a:t>structs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latin typeface="+mn-lt"/>
              </a:rPr>
              <a:t>Objectives (2 of 2)</a:t>
            </a:r>
          </a:p>
        </p:txBody>
      </p:sp>
      <p:sp>
        <p:nvSpPr>
          <p:cNvPr id="16387" name="Rectangle 3"/>
          <p:cNvSpPr>
            <a:spLocks noGrp="1" noChangeArrowheads="1"/>
          </p:cNvSpPr>
          <p:nvPr>
            <p:ph idx="1"/>
          </p:nvPr>
        </p:nvSpPr>
        <p:spPr>
          <a:xfrm>
            <a:off x="365125" y="1538818"/>
            <a:ext cx="8415338" cy="943335"/>
          </a:xfrm>
        </p:spPr>
        <p:txBody>
          <a:bodyPr/>
          <a:lstStyle/>
          <a:p>
            <a:pPr lvl="1" eaLnBrk="1" hangingPunct="1"/>
            <a:r>
              <a:rPr lang="en-US" altLang="en-US" dirty="0"/>
              <a:t>Discover how arrays are used in a </a:t>
            </a:r>
            <a:r>
              <a:rPr lang="en-US" altLang="en-US" b="1" dirty="0">
                <a:latin typeface="Courier New" pitchFamily="49" charset="0"/>
              </a:rPr>
              <a:t>struct</a:t>
            </a:r>
          </a:p>
          <a:p>
            <a:pPr lvl="1" eaLnBrk="1" hangingPunct="1"/>
            <a:r>
              <a:rPr lang="en-US" altLang="en-US" dirty="0"/>
              <a:t>Learn how to create an array of </a:t>
            </a:r>
            <a:r>
              <a:rPr lang="en-US" altLang="en-US" b="1" dirty="0">
                <a:latin typeface="Courier New" pitchFamily="49" charset="0"/>
              </a:rPr>
              <a:t>struct</a:t>
            </a:r>
            <a:r>
              <a:rPr lang="en-US" altLang="en-US" dirty="0"/>
              <a:t> items</a:t>
            </a:r>
          </a:p>
          <a:p>
            <a:pPr lvl="1" eaLnBrk="1" hangingPunct="1"/>
            <a:r>
              <a:rPr lang="en-US" altLang="en-US" dirty="0"/>
              <a:t>Learn how to create </a:t>
            </a:r>
            <a:r>
              <a:rPr lang="en-US" altLang="en-US" b="1" dirty="0">
                <a:latin typeface="Courier New" pitchFamily="49" charset="0"/>
                <a:cs typeface="Courier New" pitchFamily="49" charset="0"/>
              </a:rPr>
              <a:t>struct</a:t>
            </a:r>
            <a:r>
              <a:rPr lang="en-US" altLang="en-US" dirty="0"/>
              <a:t>s within a </a:t>
            </a:r>
            <a:r>
              <a:rPr lang="en-US" altLang="en-US" b="1" dirty="0">
                <a:latin typeface="Courier New" pitchFamily="49" charset="0"/>
                <a:cs typeface="Courier New" pitchFamily="49" charset="0"/>
              </a:rPr>
              <a:t>struct</a:t>
            </a:r>
            <a:r>
              <a:rPr lang="en-US" altLang="en-US" dirty="0"/>
              <a: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mn-lt"/>
              </a:rPr>
              <a:t>Records (</a:t>
            </a:r>
            <a:r>
              <a:rPr lang="en-US" altLang="en-US" dirty="0">
                <a:latin typeface="Courier New" pitchFamily="49" charset="0"/>
              </a:rPr>
              <a:t>struct</a:t>
            </a:r>
            <a:r>
              <a:rPr lang="en-US" altLang="en-US" dirty="0"/>
              <a:t>s</a:t>
            </a:r>
            <a:r>
              <a:rPr lang="en-US" altLang="en-US" dirty="0">
                <a:latin typeface="+mn-lt"/>
              </a:rPr>
              <a:t>) (1 of 3)</a:t>
            </a:r>
            <a:endParaRPr lang="en-IN" dirty="0">
              <a:latin typeface="+mn-lt"/>
            </a:endParaRPr>
          </a:p>
        </p:txBody>
      </p:sp>
      <p:sp>
        <p:nvSpPr>
          <p:cNvPr id="3" name="Content Placeholder 2"/>
          <p:cNvSpPr>
            <a:spLocks noGrp="1"/>
          </p:cNvSpPr>
          <p:nvPr>
            <p:ph idx="1"/>
          </p:nvPr>
        </p:nvSpPr>
        <p:spPr>
          <a:xfrm>
            <a:off x="365125" y="1538818"/>
            <a:ext cx="8415338" cy="1634294"/>
          </a:xfrm>
        </p:spPr>
        <p:txBody>
          <a:bodyPr/>
          <a:lstStyle/>
          <a:p>
            <a:r>
              <a:rPr lang="en-US" altLang="en-US" b="1" u="sng" dirty="0">
                <a:latin typeface="Courier New" pitchFamily="49" charset="0"/>
              </a:rPr>
              <a:t>struct</a:t>
            </a:r>
            <a:r>
              <a:rPr lang="en-US" altLang="en-US" dirty="0"/>
              <a:t>: a collection of a fixed number of components in which the components are accessed by name</a:t>
            </a:r>
          </a:p>
          <a:p>
            <a:pPr lvl="1"/>
            <a:r>
              <a:rPr lang="en-US" altLang="en-US" dirty="0"/>
              <a:t>The components may be of different types and are called the members of the </a:t>
            </a:r>
            <a:r>
              <a:rPr lang="en-US" altLang="en-US" b="1" dirty="0">
                <a:latin typeface="Courier New" panose="02070309020205020404" pitchFamily="49" charset="0"/>
                <a:cs typeface="Courier New" panose="02070309020205020404" pitchFamily="49" charset="0"/>
              </a:rPr>
              <a:t>struct</a:t>
            </a:r>
            <a:endParaRPr lang="en-US" altLang="en-US" dirty="0"/>
          </a:p>
          <a:p>
            <a:r>
              <a:rPr lang="en-US" altLang="en-US" dirty="0"/>
              <a:t>Syntax</a:t>
            </a:r>
            <a:endParaRPr lang="en-IN" dirty="0"/>
          </a:p>
        </p:txBody>
      </p:sp>
      <p:pic>
        <p:nvPicPr>
          <p:cNvPr id="1026" name="Content Placeholder 3" descr="struct structName&#10;{&#10;    dataType1 identifier1;&#10;    dataType2 identifier2;&#10;    .&#10;    .&#10;    .&#10;    dataTypen identifiern;&#10;};"/>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838200" y="3429000"/>
            <a:ext cx="3952433" cy="2502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0300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mn-lt"/>
              </a:rPr>
              <a:t>Records (</a:t>
            </a:r>
            <a:r>
              <a:rPr lang="en-US" altLang="en-US" dirty="0">
                <a:latin typeface="Courier New" pitchFamily="49" charset="0"/>
              </a:rPr>
              <a:t>struct</a:t>
            </a:r>
            <a:r>
              <a:rPr lang="en-US" altLang="en-US" dirty="0"/>
              <a:t>s</a:t>
            </a:r>
            <a:r>
              <a:rPr lang="en-US" altLang="en-US" dirty="0">
                <a:latin typeface="+mn-lt"/>
              </a:rPr>
              <a:t>) (2 of 3)</a:t>
            </a:r>
            <a:endParaRPr lang="en-IN" dirty="0">
              <a:latin typeface="+mn-lt"/>
            </a:endParaRPr>
          </a:p>
        </p:txBody>
      </p:sp>
      <p:sp>
        <p:nvSpPr>
          <p:cNvPr id="3" name="Content Placeholder 2"/>
          <p:cNvSpPr>
            <a:spLocks noGrp="1"/>
          </p:cNvSpPr>
          <p:nvPr>
            <p:ph idx="1"/>
          </p:nvPr>
        </p:nvSpPr>
        <p:spPr>
          <a:xfrm>
            <a:off x="365125" y="1538818"/>
            <a:ext cx="8415338" cy="632481"/>
          </a:xfrm>
        </p:spPr>
        <p:txBody>
          <a:bodyPr/>
          <a:lstStyle/>
          <a:p>
            <a:r>
              <a:rPr lang="en-US" altLang="en-US" dirty="0"/>
              <a:t>A </a:t>
            </a:r>
            <a:r>
              <a:rPr lang="en-US" altLang="en-US" b="1" dirty="0">
                <a:latin typeface="Courier New" pitchFamily="49" charset="0"/>
              </a:rPr>
              <a:t>struct</a:t>
            </a:r>
            <a:r>
              <a:rPr lang="en-US" altLang="en-US" dirty="0"/>
              <a:t> is a definition, not a declaration</a:t>
            </a:r>
          </a:p>
          <a:p>
            <a:pPr lvl="1"/>
            <a:r>
              <a:rPr lang="en-US" altLang="en-US" dirty="0"/>
              <a:t>Must declare a variable of that type to use it</a:t>
            </a:r>
            <a:endParaRPr lang="en-IN" dirty="0"/>
          </a:p>
        </p:txBody>
      </p:sp>
      <p:pic>
        <p:nvPicPr>
          <p:cNvPr id="8" name="Content Placeholder 7" descr="Program code. In the code, the words in the variable names are merged. Line 1. struct house Type. Line 2. left brace. Line 3. Indented once, string style, semi-colon. Line 4. Indented once, i n t num of Bedrooms, semi-colon. Line 5. Indented once, i n t num of Bathrooms, semi-colon. Line 6. Indented once, num of cars Garage, semi-colon. Line 7. Indented once, year Built, semi-colon. Line 8. Indented once, i n t finished Square Footage, semi-colon. Line 9. Indented once, double price, semi-colon. Line 10. Indented once, double tax, semi-colon. Line 11. right brace, semi-colon. Line 12. forward slash, forward slash, variable declaration. Line 13. house Type new House, semi-colon.">
            <a:extLst>
              <a:ext uri="{FF2B5EF4-FFF2-40B4-BE49-F238E27FC236}">
                <a16:creationId xmlns:a16="http://schemas.microsoft.com/office/drawing/2014/main" id="{169C0FEE-7335-451F-A755-D2520691AEF9}"/>
              </a:ext>
            </a:extLst>
          </p:cNvPr>
          <p:cNvPicPr>
            <a:picLocks noGrp="1" noChangeAspect="1"/>
          </p:cNvPicPr>
          <p:nvPr>
            <p:ph idx="11"/>
          </p:nvPr>
        </p:nvPicPr>
        <p:blipFill>
          <a:blip r:embed="rId2"/>
          <a:stretch>
            <a:fillRect/>
          </a:stretch>
        </p:blipFill>
        <p:spPr>
          <a:xfrm>
            <a:off x="676564" y="2286000"/>
            <a:ext cx="4019945" cy="3688080"/>
          </a:xfrm>
          <a:prstGeom prst="rect">
            <a:avLst/>
          </a:prstGeom>
        </p:spPr>
      </p:pic>
    </p:spTree>
    <p:extLst>
      <p:ext uri="{BB962C8B-B14F-4D97-AF65-F5344CB8AC3E}">
        <p14:creationId xmlns:p14="http://schemas.microsoft.com/office/powerpoint/2010/main" val="4281855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mn-lt"/>
              </a:rPr>
              <a:t>Records (</a:t>
            </a:r>
            <a:r>
              <a:rPr lang="en-US" altLang="en-US" dirty="0">
                <a:latin typeface="Courier New" pitchFamily="49" charset="0"/>
              </a:rPr>
              <a:t>struct</a:t>
            </a:r>
            <a:r>
              <a:rPr lang="en-US" altLang="en-US" dirty="0"/>
              <a:t>s</a:t>
            </a:r>
            <a:r>
              <a:rPr lang="en-US" altLang="en-US" dirty="0">
                <a:latin typeface="+mn-lt"/>
              </a:rPr>
              <a:t>) (3 of 3)</a:t>
            </a:r>
            <a:endParaRPr lang="en-IN" dirty="0">
              <a:latin typeface="+mn-lt"/>
            </a:endParaRPr>
          </a:p>
        </p:txBody>
      </p:sp>
      <p:sp>
        <p:nvSpPr>
          <p:cNvPr id="3" name="Content Placeholder 2"/>
          <p:cNvSpPr>
            <a:spLocks noGrp="1"/>
          </p:cNvSpPr>
          <p:nvPr>
            <p:ph idx="1"/>
          </p:nvPr>
        </p:nvSpPr>
        <p:spPr>
          <a:xfrm>
            <a:off x="365125" y="1538818"/>
            <a:ext cx="8415338" cy="296235"/>
          </a:xfrm>
        </p:spPr>
        <p:txBody>
          <a:bodyPr/>
          <a:lstStyle/>
          <a:p>
            <a:pPr marL="0" indent="0">
              <a:buNone/>
            </a:pPr>
            <a:r>
              <a:rPr lang="en-US" b="1" dirty="0"/>
              <a:t>FIGURE 9-1 </a:t>
            </a:r>
            <a:r>
              <a:rPr lang="en-US" b="1" dirty="0">
                <a:latin typeface="Courier New" panose="02070309020205020404" pitchFamily="49" charset="0"/>
                <a:cs typeface="Courier New" panose="02070309020205020404" pitchFamily="49" charset="0"/>
              </a:rPr>
              <a:t>struct newHouse</a:t>
            </a:r>
            <a:endParaRPr lang="en-IN" dirty="0"/>
          </a:p>
        </p:txBody>
      </p:sp>
      <p:pic>
        <p:nvPicPr>
          <p:cNvPr id="2050" name="Content Placeholder 3" descr="A memory allocation for struct new house has 8 components blocks arranged from top to bottom. Style, num of bedrooms, num of bathrooms, num of cars garage, year built, finished square footage, price, tax."/>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364623" y="2237050"/>
            <a:ext cx="8502816" cy="2753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951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10490"/>
            <a:ext cx="8026400" cy="287771"/>
          </a:xfrm>
        </p:spPr>
        <p:txBody>
          <a:bodyPr/>
          <a:lstStyle/>
          <a:p>
            <a:r>
              <a:rPr lang="en-US" altLang="en-US" dirty="0">
                <a:latin typeface="+mn-lt"/>
              </a:rPr>
              <a:t>Accessing </a:t>
            </a:r>
            <a:r>
              <a:rPr lang="en-US" altLang="en-US" dirty="0">
                <a:latin typeface="Courier New" pitchFamily="49" charset="0"/>
              </a:rPr>
              <a:t>struct</a:t>
            </a:r>
            <a:r>
              <a:rPr lang="en-US" altLang="en-US" dirty="0"/>
              <a:t> </a:t>
            </a:r>
            <a:r>
              <a:rPr lang="en-US" altLang="en-US" dirty="0">
                <a:latin typeface="+mn-lt"/>
              </a:rPr>
              <a:t>Members (1 of 2)</a:t>
            </a:r>
            <a:endParaRPr lang="en-IN" dirty="0">
              <a:latin typeface="+mn-lt"/>
            </a:endParaRPr>
          </a:p>
        </p:txBody>
      </p:sp>
      <p:sp>
        <p:nvSpPr>
          <p:cNvPr id="3" name="Content Placeholder 2"/>
          <p:cNvSpPr>
            <a:spLocks noGrp="1"/>
          </p:cNvSpPr>
          <p:nvPr>
            <p:ph idx="1"/>
          </p:nvPr>
        </p:nvSpPr>
        <p:spPr>
          <a:xfrm>
            <a:off x="365125" y="1538819"/>
            <a:ext cx="8415338" cy="296235"/>
          </a:xfrm>
        </p:spPr>
        <p:txBody>
          <a:bodyPr/>
          <a:lstStyle/>
          <a:p>
            <a:r>
              <a:rPr lang="en-US" altLang="en-US" dirty="0"/>
              <a:t>Syntax to access a </a:t>
            </a:r>
            <a:r>
              <a:rPr lang="en-US" altLang="en-US" b="1" dirty="0">
                <a:latin typeface="Courier New" pitchFamily="49" charset="0"/>
              </a:rPr>
              <a:t>struct</a:t>
            </a:r>
            <a:r>
              <a:rPr lang="en-US" altLang="en-US" dirty="0"/>
              <a:t> member:</a:t>
            </a:r>
            <a:endParaRPr lang="en-IN" dirty="0"/>
          </a:p>
        </p:txBody>
      </p:sp>
      <p:pic>
        <p:nvPicPr>
          <p:cNvPr id="10" name="Content Placeholder 3" descr="structVariableName.memberName"/>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609600" y="1981200"/>
            <a:ext cx="401002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6" name="Content Placeholder 5"/>
          <p:cNvSpPr>
            <a:spLocks noGrp="1"/>
          </p:cNvSpPr>
          <p:nvPr>
            <p:ph idx="12"/>
          </p:nvPr>
        </p:nvSpPr>
        <p:spPr>
          <a:xfrm>
            <a:off x="381000" y="2667000"/>
            <a:ext cx="8415338" cy="296235"/>
          </a:xfrm>
        </p:spPr>
        <p:txBody>
          <a:bodyPr/>
          <a:lstStyle/>
          <a:p>
            <a:r>
              <a:rPr lang="en-US" altLang="en-US" dirty="0"/>
              <a:t>The dot (</a:t>
            </a:r>
            <a:r>
              <a:rPr lang="en-US" altLang="en-US" b="1" dirty="0">
                <a:latin typeface="Courier New" panose="02070309020205020404" pitchFamily="49" charset="0"/>
                <a:cs typeface="Courier New" panose="02070309020205020404" pitchFamily="49" charset="0"/>
              </a:rPr>
              <a:t>.</a:t>
            </a:r>
            <a:r>
              <a:rPr lang="en-US" altLang="en-US" dirty="0"/>
              <a:t>) is called the </a:t>
            </a:r>
            <a:r>
              <a:rPr lang="en-US" altLang="en-US" u="sng" dirty="0"/>
              <a:t>member access operator</a:t>
            </a:r>
            <a:endParaRPr lang="en-IN" dirty="0"/>
          </a:p>
        </p:txBody>
      </p:sp>
    </p:spTree>
    <p:extLst>
      <p:ext uri="{BB962C8B-B14F-4D97-AF65-F5344CB8AC3E}">
        <p14:creationId xmlns:p14="http://schemas.microsoft.com/office/powerpoint/2010/main" val="2235924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10490"/>
            <a:ext cx="8026400" cy="287771"/>
          </a:xfrm>
        </p:spPr>
        <p:txBody>
          <a:bodyPr/>
          <a:lstStyle/>
          <a:p>
            <a:r>
              <a:rPr lang="en-US" altLang="en-US" dirty="0">
                <a:latin typeface="+mn-lt"/>
              </a:rPr>
              <a:t>Accessing </a:t>
            </a:r>
            <a:r>
              <a:rPr lang="en-US" altLang="en-US" dirty="0">
                <a:latin typeface="Courier New" pitchFamily="49" charset="0"/>
              </a:rPr>
              <a:t>struct</a:t>
            </a:r>
            <a:r>
              <a:rPr lang="en-US" altLang="en-US" dirty="0"/>
              <a:t> </a:t>
            </a:r>
            <a:r>
              <a:rPr lang="en-US" altLang="en-US" dirty="0">
                <a:latin typeface="+mn-lt"/>
              </a:rPr>
              <a:t>Members (2 of 2)</a:t>
            </a:r>
            <a:endParaRPr lang="en-IN" dirty="0">
              <a:latin typeface="+mn-lt"/>
            </a:endParaRPr>
          </a:p>
        </p:txBody>
      </p:sp>
      <p:sp>
        <p:nvSpPr>
          <p:cNvPr id="3" name="Content Placeholder 2"/>
          <p:cNvSpPr>
            <a:spLocks noGrp="1"/>
          </p:cNvSpPr>
          <p:nvPr>
            <p:ph idx="1"/>
          </p:nvPr>
        </p:nvSpPr>
        <p:spPr>
          <a:xfrm>
            <a:off x="365125" y="1538819"/>
            <a:ext cx="8415338" cy="1201867"/>
          </a:xfrm>
        </p:spPr>
        <p:txBody>
          <a:bodyPr/>
          <a:lstStyle/>
          <a:p>
            <a:r>
              <a:rPr lang="en-US" altLang="en-US" dirty="0"/>
              <a:t>To initialize the members of </a:t>
            </a:r>
            <a:r>
              <a:rPr lang="en-US" altLang="en-US" b="1" dirty="0" err="1">
                <a:latin typeface="Courier New" pitchFamily="49" charset="0"/>
              </a:rPr>
              <a:t>newStudent</a:t>
            </a:r>
            <a:r>
              <a:rPr lang="en-US" altLang="en-US" dirty="0"/>
              <a:t>:</a:t>
            </a:r>
          </a:p>
          <a:p>
            <a:pPr lvl="1">
              <a:lnSpc>
                <a:spcPct val="80000"/>
              </a:lnSpc>
              <a:buNone/>
            </a:pPr>
            <a:r>
              <a:rPr lang="en-US" altLang="en-US" b="1" dirty="0" err="1">
                <a:latin typeface="Courier New" pitchFamily="49" charset="0"/>
              </a:rPr>
              <a:t>newStudent.GPA</a:t>
            </a:r>
            <a:r>
              <a:rPr lang="en-US" altLang="en-US" b="1" dirty="0">
                <a:latin typeface="Courier New" pitchFamily="49" charset="0"/>
              </a:rPr>
              <a:t> = 0.0;</a:t>
            </a:r>
          </a:p>
          <a:p>
            <a:pPr lvl="1">
              <a:lnSpc>
                <a:spcPct val="80000"/>
              </a:lnSpc>
              <a:buNone/>
            </a:pPr>
            <a:r>
              <a:rPr lang="en-US" altLang="en-US" b="1" dirty="0" err="1">
                <a:latin typeface="Courier New" pitchFamily="49" charset="0"/>
              </a:rPr>
              <a:t>newStudent.firstName</a:t>
            </a:r>
            <a:r>
              <a:rPr lang="en-US" altLang="en-US" b="1" dirty="0">
                <a:latin typeface="Courier New" pitchFamily="49" charset="0"/>
              </a:rPr>
              <a:t> = "John";</a:t>
            </a:r>
          </a:p>
          <a:p>
            <a:pPr lvl="1">
              <a:lnSpc>
                <a:spcPct val="80000"/>
              </a:lnSpc>
              <a:buNone/>
            </a:pPr>
            <a:r>
              <a:rPr lang="en-US" altLang="en-US" b="1" dirty="0" err="1">
                <a:latin typeface="Courier New" pitchFamily="49" charset="0"/>
              </a:rPr>
              <a:t>newStudent.lastName</a:t>
            </a:r>
            <a:r>
              <a:rPr lang="en-US" altLang="en-US" b="1" dirty="0">
                <a:latin typeface="Courier New" pitchFamily="49" charset="0"/>
              </a:rPr>
              <a:t> = "Brown";</a:t>
            </a:r>
            <a:endParaRPr lang="en-IN" dirty="0"/>
          </a:p>
        </p:txBody>
      </p:sp>
      <p:sp>
        <p:nvSpPr>
          <p:cNvPr id="4" name="Content Placeholder 3"/>
          <p:cNvSpPr>
            <a:spLocks noGrp="1"/>
          </p:cNvSpPr>
          <p:nvPr>
            <p:ph idx="11"/>
          </p:nvPr>
        </p:nvSpPr>
        <p:spPr>
          <a:xfrm>
            <a:off x="381000" y="2971800"/>
            <a:ext cx="8415338" cy="296235"/>
          </a:xfrm>
        </p:spPr>
        <p:txBody>
          <a:bodyPr/>
          <a:lstStyle/>
          <a:p>
            <a:pPr marL="0" indent="0">
              <a:buNone/>
            </a:pPr>
            <a:r>
              <a:rPr lang="en-US" b="1" dirty="0"/>
              <a:t>FIGURE 9-2 </a:t>
            </a:r>
            <a:r>
              <a:rPr lang="en-US" b="1" dirty="0">
                <a:solidFill>
                  <a:srgbClr val="0070C0"/>
                </a:solidFill>
                <a:latin typeface="Courier New" panose="02070309020205020404" pitchFamily="49" charset="0"/>
                <a:cs typeface="Courier New" panose="02070309020205020404" pitchFamily="49" charset="0"/>
              </a:rPr>
              <a:t>struct </a:t>
            </a:r>
            <a:r>
              <a:rPr lang="en-US" b="1" dirty="0" err="1">
                <a:latin typeface="Courier New" panose="02070309020205020404" pitchFamily="49" charset="0"/>
                <a:cs typeface="Courier New" panose="02070309020205020404" pitchFamily="49" charset="0"/>
              </a:rPr>
              <a:t>newStudent</a:t>
            </a:r>
            <a:endParaRPr lang="en-IN" dirty="0"/>
          </a:p>
        </p:txBody>
      </p:sp>
      <p:pic>
        <p:nvPicPr>
          <p:cNvPr id="3074" name="Picture 2" descr="Accessing the struct members by initializing the members of new Student. A table has 2 columns and 6 rows. Row 1: first name, john. Row 2: Last name, Brown. Row 3: course grade, colored block.Row 4: test score, a colored block. Row 5: programming score, colored block. Row 6: G P A, 0.0"/>
          <p:cNvPicPr>
            <a:picLocks noGrp="1" noChangeAspect="1" noChangeArrowheads="1"/>
          </p:cNvPicPr>
          <p:nvPr>
            <p:ph idx="12"/>
          </p:nvPr>
        </p:nvPicPr>
        <p:blipFill>
          <a:blip r:embed="rId2">
            <a:extLst>
              <a:ext uri="{28A0092B-C50C-407E-A947-70E740481C1C}">
                <a14:useLocalDpi xmlns:a14="http://schemas.microsoft.com/office/drawing/2010/main" val="0"/>
              </a:ext>
            </a:extLst>
          </a:blip>
          <a:srcRect/>
          <a:stretch>
            <a:fillRect/>
          </a:stretch>
        </p:blipFill>
        <p:spPr bwMode="auto">
          <a:xfrm>
            <a:off x="1019775" y="3492640"/>
            <a:ext cx="6548364" cy="245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6179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Assignment (1 of 2)</a:t>
            </a:r>
            <a:endParaRPr lang="en-IN" dirty="0">
              <a:latin typeface="+mn-lt"/>
            </a:endParaRPr>
          </a:p>
        </p:txBody>
      </p:sp>
      <p:sp>
        <p:nvSpPr>
          <p:cNvPr id="3" name="Content Placeholder 2"/>
          <p:cNvSpPr>
            <a:spLocks noGrp="1"/>
          </p:cNvSpPr>
          <p:nvPr>
            <p:ph idx="1"/>
          </p:nvPr>
        </p:nvSpPr>
        <p:spPr>
          <a:xfrm>
            <a:off x="365125" y="1538818"/>
            <a:ext cx="8415338" cy="1031051"/>
          </a:xfrm>
        </p:spPr>
        <p:txBody>
          <a:bodyPr/>
          <a:lstStyle/>
          <a:p>
            <a:r>
              <a:rPr lang="en-US" altLang="en-US" dirty="0"/>
              <a:t>Value of one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variable can be assigned to another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variable of the same type using an assignment statement</a:t>
            </a:r>
          </a:p>
          <a:p>
            <a:r>
              <a:rPr lang="en-US" altLang="en-US" dirty="0"/>
              <a:t>The statement:</a:t>
            </a:r>
            <a:endParaRPr lang="en-IN" dirty="0"/>
          </a:p>
        </p:txBody>
      </p:sp>
      <p:sp>
        <p:nvSpPr>
          <p:cNvPr id="4" name="Content Placeholder 3"/>
          <p:cNvSpPr>
            <a:spLocks noGrp="1"/>
          </p:cNvSpPr>
          <p:nvPr>
            <p:ph idx="11"/>
          </p:nvPr>
        </p:nvSpPr>
        <p:spPr>
          <a:xfrm>
            <a:off x="372291" y="2715728"/>
            <a:ext cx="8415338" cy="713272"/>
          </a:xfrm>
        </p:spPr>
        <p:txBody>
          <a:bodyPr/>
          <a:lstStyle/>
          <a:p>
            <a:pPr marL="231775" indent="0">
              <a:buNone/>
            </a:pPr>
            <a:r>
              <a:rPr lang="en-US" altLang="en-US" sz="1800" b="1" dirty="0">
                <a:latin typeface="Courier New" pitchFamily="49" charset="0"/>
              </a:rPr>
              <a:t>student = </a:t>
            </a:r>
            <a:r>
              <a:rPr lang="en-US" altLang="en-US" sz="1800" b="1" dirty="0" err="1">
                <a:latin typeface="Courier New" pitchFamily="49" charset="0"/>
              </a:rPr>
              <a:t>newStudent</a:t>
            </a:r>
            <a:r>
              <a:rPr lang="en-US" altLang="en-US" sz="1800" b="1" dirty="0">
                <a:latin typeface="Courier New" pitchFamily="49" charset="0"/>
              </a:rPr>
              <a:t>; </a:t>
            </a:r>
          </a:p>
          <a:p>
            <a:pPr>
              <a:buNone/>
            </a:pPr>
            <a:r>
              <a:rPr lang="en-US" altLang="en-US" dirty="0"/>
              <a:t>	copies the contents of </a:t>
            </a:r>
            <a:r>
              <a:rPr lang="en-US" altLang="en-US" b="1" dirty="0" err="1">
                <a:latin typeface="Courier New" pitchFamily="49" charset="0"/>
              </a:rPr>
              <a:t>newStudent</a:t>
            </a:r>
            <a:r>
              <a:rPr lang="en-US" altLang="en-US" dirty="0"/>
              <a:t> into </a:t>
            </a:r>
            <a:r>
              <a:rPr lang="en-US" altLang="en-US" b="1" dirty="0">
                <a:latin typeface="Courier New" pitchFamily="49" charset="0"/>
              </a:rPr>
              <a:t>student</a:t>
            </a:r>
            <a:endParaRPr lang="en-IN" dirty="0"/>
          </a:p>
        </p:txBody>
      </p:sp>
    </p:spTree>
    <p:extLst>
      <p:ext uri="{BB962C8B-B14F-4D97-AF65-F5344CB8AC3E}">
        <p14:creationId xmlns:p14="http://schemas.microsoft.com/office/powerpoint/2010/main" val="961123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mn-lt"/>
              </a:rPr>
              <a:t>Assignment (2 of 2)</a:t>
            </a:r>
            <a:endParaRPr lang="en-IN" dirty="0">
              <a:latin typeface="+mn-lt"/>
            </a:endParaRPr>
          </a:p>
        </p:txBody>
      </p:sp>
      <p:sp>
        <p:nvSpPr>
          <p:cNvPr id="3" name="Content Placeholder 2"/>
          <p:cNvSpPr>
            <a:spLocks noGrp="1"/>
          </p:cNvSpPr>
          <p:nvPr>
            <p:ph idx="1"/>
          </p:nvPr>
        </p:nvSpPr>
        <p:spPr>
          <a:xfrm>
            <a:off x="365125" y="1538819"/>
            <a:ext cx="8415338" cy="292388"/>
          </a:xfrm>
        </p:spPr>
        <p:txBody>
          <a:bodyPr/>
          <a:lstStyle/>
          <a:p>
            <a:r>
              <a:rPr lang="en-US" altLang="en-US" dirty="0"/>
              <a:t>The assignment statement:</a:t>
            </a:r>
            <a:endParaRPr lang="en-IN" dirty="0"/>
          </a:p>
        </p:txBody>
      </p:sp>
      <p:sp>
        <p:nvSpPr>
          <p:cNvPr id="4" name="Content Placeholder 3"/>
          <p:cNvSpPr>
            <a:spLocks noGrp="1"/>
          </p:cNvSpPr>
          <p:nvPr>
            <p:ph idx="11"/>
          </p:nvPr>
        </p:nvSpPr>
        <p:spPr>
          <a:xfrm>
            <a:off x="348343" y="1905000"/>
            <a:ext cx="8415338" cy="266611"/>
          </a:xfrm>
        </p:spPr>
        <p:txBody>
          <a:bodyPr/>
          <a:lstStyle/>
          <a:p>
            <a:pPr marL="228600" lvl="1" indent="0">
              <a:buNone/>
            </a:pPr>
            <a:r>
              <a:rPr lang="en-US" altLang="en-US" b="1" dirty="0">
                <a:latin typeface="Courier New" panose="02070309020205020404" pitchFamily="49" charset="0"/>
                <a:cs typeface="Courier New" panose="02070309020205020404" pitchFamily="49" charset="0"/>
              </a:rPr>
              <a:t>student = </a:t>
            </a:r>
            <a:r>
              <a:rPr lang="en-US" altLang="en-US" b="1" dirty="0" err="1">
                <a:latin typeface="Courier New" panose="02070309020205020404" pitchFamily="49" charset="0"/>
                <a:cs typeface="Courier New" panose="02070309020205020404" pitchFamily="49" charset="0"/>
              </a:rPr>
              <a:t>newStudent</a:t>
            </a:r>
            <a:r>
              <a:rPr lang="en-US" altLang="en-US" b="1" dirty="0">
                <a:latin typeface="Courier New" panose="02070309020205020404" pitchFamily="49" charset="0"/>
                <a:cs typeface="Courier New" panose="02070309020205020404" pitchFamily="49" charset="0"/>
              </a:rPr>
              <a:t>;</a:t>
            </a:r>
            <a:endParaRPr lang="en-US" altLang="en-US" dirty="0"/>
          </a:p>
        </p:txBody>
      </p:sp>
      <p:sp>
        <p:nvSpPr>
          <p:cNvPr id="6" name="Content Placeholder 5"/>
          <p:cNvSpPr>
            <a:spLocks noGrp="1"/>
          </p:cNvSpPr>
          <p:nvPr>
            <p:ph idx="12"/>
          </p:nvPr>
        </p:nvSpPr>
        <p:spPr>
          <a:xfrm>
            <a:off x="407126" y="2286000"/>
            <a:ext cx="8415338" cy="292388"/>
          </a:xfrm>
        </p:spPr>
        <p:txBody>
          <a:bodyPr/>
          <a:lstStyle/>
          <a:p>
            <a:r>
              <a:rPr lang="en-US" altLang="en-US" dirty="0"/>
              <a:t>is equivalent to the following statements:</a:t>
            </a:r>
          </a:p>
        </p:txBody>
      </p:sp>
      <p:sp>
        <p:nvSpPr>
          <p:cNvPr id="7" name="Content Placeholder 6"/>
          <p:cNvSpPr>
            <a:spLocks noGrp="1"/>
          </p:cNvSpPr>
          <p:nvPr>
            <p:ph idx="13"/>
          </p:nvPr>
        </p:nvSpPr>
        <p:spPr>
          <a:xfrm>
            <a:off x="381000" y="2743200"/>
            <a:ext cx="8415338" cy="1582356"/>
          </a:xfrm>
        </p:spPr>
        <p:txBody>
          <a:bodyPr/>
          <a:lstStyle/>
          <a:p>
            <a:pPr marL="228600" lvl="1" indent="0">
              <a:spcBef>
                <a:spcPts val="0"/>
              </a:spcBef>
              <a:buNone/>
            </a:pPr>
            <a:r>
              <a:rPr lang="en-US" altLang="en-US" b="1" dirty="0" err="1">
                <a:latin typeface="Courier New" panose="02070309020205020404" pitchFamily="49" charset="0"/>
                <a:cs typeface="Courier New" panose="02070309020205020404" pitchFamily="49" charset="0"/>
              </a:rPr>
              <a:t>student.firstName</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newStudent.firstName</a:t>
            </a:r>
            <a:r>
              <a:rPr lang="en-US" altLang="en-US" b="1" dirty="0">
                <a:latin typeface="Courier New" panose="02070309020205020404" pitchFamily="49" charset="0"/>
                <a:cs typeface="Courier New" panose="02070309020205020404" pitchFamily="49" charset="0"/>
              </a:rPr>
              <a:t>;</a:t>
            </a:r>
          </a:p>
          <a:p>
            <a:pPr marL="228600" lvl="1" indent="0">
              <a:spcBef>
                <a:spcPts val="0"/>
              </a:spcBef>
              <a:buNone/>
            </a:pPr>
            <a:r>
              <a:rPr lang="en-US" altLang="en-US" b="1" dirty="0" err="1">
                <a:latin typeface="Courier New" panose="02070309020205020404" pitchFamily="49" charset="0"/>
                <a:cs typeface="Courier New" panose="02070309020205020404" pitchFamily="49" charset="0"/>
              </a:rPr>
              <a:t>student.lastName</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newStudent.lastName</a:t>
            </a:r>
            <a:r>
              <a:rPr lang="en-US" altLang="en-US" b="1" dirty="0">
                <a:latin typeface="Courier New" panose="02070309020205020404" pitchFamily="49" charset="0"/>
                <a:cs typeface="Courier New" panose="02070309020205020404" pitchFamily="49" charset="0"/>
              </a:rPr>
              <a:t>;</a:t>
            </a:r>
          </a:p>
          <a:p>
            <a:pPr marL="228600" lvl="1" indent="0">
              <a:spcBef>
                <a:spcPts val="0"/>
              </a:spcBef>
              <a:buNone/>
            </a:pPr>
            <a:r>
              <a:rPr lang="en-US" altLang="en-US" b="1" dirty="0" err="1">
                <a:latin typeface="Courier New" panose="02070309020205020404" pitchFamily="49" charset="0"/>
                <a:cs typeface="Courier New" panose="02070309020205020404" pitchFamily="49" charset="0"/>
              </a:rPr>
              <a:t>student.courseGrade</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newStudent.courseGrade</a:t>
            </a:r>
            <a:r>
              <a:rPr lang="en-US" altLang="en-US" b="1" dirty="0">
                <a:latin typeface="Courier New" panose="02070309020205020404" pitchFamily="49" charset="0"/>
                <a:cs typeface="Courier New" panose="02070309020205020404" pitchFamily="49" charset="0"/>
              </a:rPr>
              <a:t>;</a:t>
            </a:r>
          </a:p>
          <a:p>
            <a:pPr marL="228600" lvl="1" indent="0">
              <a:spcBef>
                <a:spcPts val="0"/>
              </a:spcBef>
              <a:buNone/>
            </a:pPr>
            <a:r>
              <a:rPr lang="en-US" altLang="en-US" b="1" dirty="0" err="1">
                <a:latin typeface="Courier New" panose="02070309020205020404" pitchFamily="49" charset="0"/>
                <a:cs typeface="Courier New" panose="02070309020205020404" pitchFamily="49" charset="0"/>
              </a:rPr>
              <a:t>student.testScore</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newStudent.testScore</a:t>
            </a:r>
            <a:r>
              <a:rPr lang="en-US" altLang="en-US" b="1" dirty="0">
                <a:latin typeface="Courier New" panose="02070309020205020404" pitchFamily="49" charset="0"/>
                <a:cs typeface="Courier New" panose="02070309020205020404" pitchFamily="49" charset="0"/>
              </a:rPr>
              <a:t>;</a:t>
            </a:r>
          </a:p>
          <a:p>
            <a:pPr marL="228600" lvl="1" indent="0">
              <a:spcBef>
                <a:spcPts val="0"/>
              </a:spcBef>
              <a:buNone/>
            </a:pPr>
            <a:r>
              <a:rPr lang="en-US" altLang="en-US" b="1" dirty="0" err="1">
                <a:latin typeface="Courier New" panose="02070309020205020404" pitchFamily="49" charset="0"/>
                <a:cs typeface="Courier New" panose="02070309020205020404" pitchFamily="49" charset="0"/>
              </a:rPr>
              <a:t>student.programmingScore</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newStudent.programmingScore</a:t>
            </a:r>
            <a:r>
              <a:rPr lang="en-US" altLang="en-US" b="1" dirty="0">
                <a:latin typeface="Courier New" panose="02070309020205020404" pitchFamily="49" charset="0"/>
                <a:cs typeface="Courier New" panose="02070309020205020404" pitchFamily="49" charset="0"/>
              </a:rPr>
              <a:t>;</a:t>
            </a:r>
          </a:p>
          <a:p>
            <a:pPr marL="228600" lvl="1" indent="0">
              <a:spcBef>
                <a:spcPts val="0"/>
              </a:spcBef>
              <a:buNone/>
            </a:pPr>
            <a:r>
              <a:rPr lang="en-US" altLang="en-US" b="1" dirty="0" err="1">
                <a:latin typeface="Courier New" panose="02070309020205020404" pitchFamily="49" charset="0"/>
                <a:cs typeface="Courier New" panose="02070309020205020404" pitchFamily="49" charset="0"/>
              </a:rPr>
              <a:t>student.GPA</a:t>
            </a:r>
            <a:r>
              <a:rPr lang="en-US" altLang="en-US" b="1" dirty="0">
                <a:latin typeface="Courier New" panose="02070309020205020404" pitchFamily="49" charset="0"/>
                <a:cs typeface="Courier New" panose="02070309020205020404" pitchFamily="49" charset="0"/>
              </a:rPr>
              <a:t> = </a:t>
            </a:r>
            <a:r>
              <a:rPr lang="en-US" altLang="en-US" b="1" dirty="0" err="1">
                <a:latin typeface="Courier New" panose="02070309020205020404" pitchFamily="49" charset="0"/>
                <a:cs typeface="Courier New" panose="02070309020205020404" pitchFamily="49" charset="0"/>
              </a:rPr>
              <a:t>newStudent.GPA</a:t>
            </a:r>
            <a:r>
              <a:rPr lang="en-US" altLang="en-US" b="1" dirty="0">
                <a:latin typeface="Courier New" panose="02070309020205020404" pitchFamily="49" charset="0"/>
                <a:cs typeface="Courier New" panose="02070309020205020404" pitchFamily="49" charset="0"/>
              </a:rPr>
              <a:t>;</a:t>
            </a:r>
            <a:endParaRPr lang="en-IN" dirty="0"/>
          </a:p>
        </p:txBody>
      </p:sp>
    </p:spTree>
    <p:extLst>
      <p:ext uri="{BB962C8B-B14F-4D97-AF65-F5344CB8AC3E}">
        <p14:creationId xmlns:p14="http://schemas.microsoft.com/office/powerpoint/2010/main" val="257121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mn-lt"/>
              </a:rPr>
              <a:t>Comparison (Relational Operators)</a:t>
            </a:r>
            <a:endParaRPr lang="en-IN" dirty="0">
              <a:latin typeface="+mn-lt"/>
            </a:endParaRPr>
          </a:p>
        </p:txBody>
      </p:sp>
      <p:sp>
        <p:nvSpPr>
          <p:cNvPr id="3" name="Content Placeholder 2"/>
          <p:cNvSpPr>
            <a:spLocks noGrp="1"/>
          </p:cNvSpPr>
          <p:nvPr>
            <p:ph idx="1"/>
          </p:nvPr>
        </p:nvSpPr>
        <p:spPr>
          <a:xfrm>
            <a:off x="365125" y="1538818"/>
            <a:ext cx="8415338" cy="1082604"/>
          </a:xfrm>
        </p:spPr>
        <p:txBody>
          <a:bodyPr/>
          <a:lstStyle/>
          <a:p>
            <a:r>
              <a:rPr lang="en-US" altLang="en-US" dirty="0"/>
              <a:t>Compare </a:t>
            </a:r>
            <a:r>
              <a:rPr lang="en-US" altLang="en-US" b="1" dirty="0">
                <a:latin typeface="Courier New" pitchFamily="49" charset="0"/>
              </a:rPr>
              <a:t>struct</a:t>
            </a:r>
            <a:r>
              <a:rPr lang="en-US" altLang="en-US" dirty="0"/>
              <a:t> variables member-wise</a:t>
            </a:r>
          </a:p>
          <a:p>
            <a:pPr lvl="1"/>
            <a:r>
              <a:rPr lang="en-US" altLang="en-US" dirty="0"/>
              <a:t>No aggregate relational operations are allowed</a:t>
            </a:r>
          </a:p>
          <a:p>
            <a:r>
              <a:rPr lang="en-US" altLang="en-US" dirty="0"/>
              <a:t>To compare the values of </a:t>
            </a:r>
            <a:r>
              <a:rPr lang="en-US" altLang="en-US" b="1" dirty="0">
                <a:latin typeface="Courier New" pitchFamily="49" charset="0"/>
              </a:rPr>
              <a:t>student</a:t>
            </a:r>
            <a:r>
              <a:rPr lang="en-US" altLang="en-US" dirty="0"/>
              <a:t> and </a:t>
            </a:r>
            <a:r>
              <a:rPr lang="en-US" altLang="en-US" b="1" dirty="0" err="1">
                <a:latin typeface="Courier New" pitchFamily="49" charset="0"/>
              </a:rPr>
              <a:t>newStudent</a:t>
            </a:r>
            <a:r>
              <a:rPr lang="en-US" altLang="en-US" dirty="0"/>
              <a:t>:</a:t>
            </a:r>
            <a:endParaRPr lang="en-IN" dirty="0"/>
          </a:p>
        </p:txBody>
      </p:sp>
      <p:pic>
        <p:nvPicPr>
          <p:cNvPr id="7" name="Content Placeholder 6" descr="Program code. In the code, the words in the variable names are merged. Line 1. if, left parenthesis, student, period, first Name, equals, equals, new Student, period, first name, ampersand, ampersand. Line 2. Indented once, student, period, last Name, equals, equals, new Student, period, last name, right parenthesis. Line 3. Indented once, period. Line 4. Indented once, period. Line 5. Indented once, period.">
            <a:extLst>
              <a:ext uri="{FF2B5EF4-FFF2-40B4-BE49-F238E27FC236}">
                <a16:creationId xmlns:a16="http://schemas.microsoft.com/office/drawing/2014/main" id="{086D352D-EEE2-4E9A-8B91-6D56AC32E42C}"/>
              </a:ext>
            </a:extLst>
          </p:cNvPr>
          <p:cNvPicPr>
            <a:picLocks noGrp="1" noChangeAspect="1"/>
          </p:cNvPicPr>
          <p:nvPr>
            <p:ph idx="11"/>
          </p:nvPr>
        </p:nvPicPr>
        <p:blipFill>
          <a:blip r:embed="rId2"/>
          <a:stretch>
            <a:fillRect/>
          </a:stretch>
        </p:blipFill>
        <p:spPr>
          <a:xfrm>
            <a:off x="457200" y="2819400"/>
            <a:ext cx="6452832" cy="1456351"/>
          </a:xfrm>
        </p:spPr>
      </p:pic>
    </p:spTree>
    <p:extLst>
      <p:ext uri="{BB962C8B-B14F-4D97-AF65-F5344CB8AC3E}">
        <p14:creationId xmlns:p14="http://schemas.microsoft.com/office/powerpoint/2010/main" val="893775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err="1">
                <a:latin typeface="+mn-lt"/>
              </a:rPr>
              <a:t>Input/Output</a:t>
            </a:r>
            <a:endParaRPr lang="en-IN" dirty="0">
              <a:latin typeface="+mn-lt"/>
            </a:endParaRPr>
          </a:p>
        </p:txBody>
      </p:sp>
      <p:sp>
        <p:nvSpPr>
          <p:cNvPr id="3" name="Content Placeholder 2"/>
          <p:cNvSpPr>
            <a:spLocks noGrp="1"/>
          </p:cNvSpPr>
          <p:nvPr>
            <p:ph idx="1"/>
          </p:nvPr>
        </p:nvSpPr>
        <p:spPr>
          <a:xfrm>
            <a:off x="365125" y="1538818"/>
            <a:ext cx="8415338" cy="1188787"/>
          </a:xfrm>
        </p:spPr>
        <p:txBody>
          <a:bodyPr/>
          <a:lstStyle/>
          <a:p>
            <a:r>
              <a:rPr lang="en-US" altLang="en-US" dirty="0"/>
              <a:t>No aggregate input/output operations are allowed on a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variable</a:t>
            </a:r>
          </a:p>
          <a:p>
            <a:r>
              <a:rPr lang="en-US" altLang="en-US" dirty="0"/>
              <a:t>Data in a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variable must be read or written one member at a time</a:t>
            </a:r>
          </a:p>
          <a:p>
            <a:r>
              <a:rPr lang="en-US" altLang="en-US" dirty="0"/>
              <a:t>The following code would output </a:t>
            </a:r>
            <a:r>
              <a:rPr lang="en-US" altLang="en-US" b="1" dirty="0" err="1">
                <a:solidFill>
                  <a:srgbClr val="0070C0"/>
                </a:solidFill>
                <a:latin typeface="Courier New" pitchFamily="49" charset="0"/>
                <a:cs typeface="Courier New" pitchFamily="49" charset="0"/>
              </a:rPr>
              <a:t>newStudent</a:t>
            </a:r>
            <a:r>
              <a:rPr lang="en-US" altLang="en-US" dirty="0">
                <a:solidFill>
                  <a:srgbClr val="0070C0"/>
                </a:solidFill>
              </a:rPr>
              <a:t> </a:t>
            </a:r>
            <a:r>
              <a:rPr lang="en-US" altLang="en-US" dirty="0"/>
              <a:t>contents:</a:t>
            </a:r>
            <a:endParaRPr lang="en-IN" dirty="0"/>
          </a:p>
        </p:txBody>
      </p:sp>
      <p:pic>
        <p:nvPicPr>
          <p:cNvPr id="7" name="Content Placeholder 6" descr="Program code. In the code, the words in the variable names are merged. Line 1. cout, less than, less than, new Student period, first Name, less than, less than, left double quotation mark, right double quotation mark, less than, less than, new Student, period, last Name. Line 2. Indented once, less than, less than, left double quotation mark, right double quotation mark, less than, less than, new Student, period, course Grade. Line 3. Indented once, less than, less than, left double quotation mark, right double quotation mark, less than, less than, new Student, period, test score. Line 4. Indented once, less than, less than, left double quotation mark, right double quotation mark, less than, less than, new Student, period, programming Score. Line 5. Indented once, less than, less than, left double quotation mark, right double quotation mark, less than, less than, new Student, period, GPA, less than, less than, end 1, semi-colon.">
            <a:extLst>
              <a:ext uri="{FF2B5EF4-FFF2-40B4-BE49-F238E27FC236}">
                <a16:creationId xmlns:a16="http://schemas.microsoft.com/office/drawing/2014/main" id="{B8C5EBBA-5D12-4615-B3C7-16FCFECEFDB1}"/>
              </a:ext>
            </a:extLst>
          </p:cNvPr>
          <p:cNvPicPr>
            <a:picLocks noGrp="1" noChangeAspect="1"/>
          </p:cNvPicPr>
          <p:nvPr>
            <p:ph idx="11"/>
          </p:nvPr>
        </p:nvPicPr>
        <p:blipFill>
          <a:blip r:embed="rId2"/>
          <a:stretch>
            <a:fillRect/>
          </a:stretch>
        </p:blipFill>
        <p:spPr>
          <a:xfrm>
            <a:off x="429492" y="2863966"/>
            <a:ext cx="7214158" cy="1399928"/>
          </a:xfrm>
        </p:spPr>
      </p:pic>
    </p:spTree>
    <p:extLst>
      <p:ext uri="{BB962C8B-B14F-4D97-AF65-F5344CB8AC3E}">
        <p14:creationId xmlns:p14="http://schemas.microsoft.com/office/powerpoint/2010/main" val="2838293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Courier New" pitchFamily="49" charset="0"/>
              </a:rPr>
              <a:t>struct</a:t>
            </a:r>
            <a:r>
              <a:rPr lang="en-US" altLang="en-US" dirty="0"/>
              <a:t> </a:t>
            </a:r>
            <a:r>
              <a:rPr lang="en-US" altLang="en-US" dirty="0">
                <a:latin typeface="+mn-lt"/>
              </a:rPr>
              <a:t>Variables and Functions</a:t>
            </a:r>
            <a:endParaRPr lang="en-IN" dirty="0">
              <a:latin typeface="+mn-lt"/>
            </a:endParaRPr>
          </a:p>
        </p:txBody>
      </p:sp>
      <p:sp>
        <p:nvSpPr>
          <p:cNvPr id="3" name="Content Placeholder 2"/>
          <p:cNvSpPr>
            <a:spLocks noGrp="1"/>
          </p:cNvSpPr>
          <p:nvPr>
            <p:ph idx="1"/>
          </p:nvPr>
        </p:nvSpPr>
        <p:spPr>
          <a:xfrm>
            <a:off x="365125" y="1538818"/>
            <a:ext cx="8415338" cy="1481175"/>
          </a:xfrm>
        </p:spPr>
        <p:txBody>
          <a:bodyPr/>
          <a:lstStyle/>
          <a:p>
            <a:r>
              <a:rPr lang="en-US" altLang="en-US" dirty="0"/>
              <a:t>A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variable can be passed as a parameter by value or by reference</a:t>
            </a:r>
          </a:p>
          <a:p>
            <a:r>
              <a:rPr lang="en-US" altLang="en-US" dirty="0"/>
              <a:t>A function can return a value of type </a:t>
            </a:r>
            <a:r>
              <a:rPr lang="en-US" altLang="en-US" b="1" dirty="0">
                <a:solidFill>
                  <a:srgbClr val="0070C0"/>
                </a:solidFill>
                <a:latin typeface="Courier New" pitchFamily="49" charset="0"/>
              </a:rPr>
              <a:t>struct</a:t>
            </a:r>
          </a:p>
          <a:p>
            <a:r>
              <a:rPr lang="en-US" altLang="en-US" dirty="0"/>
              <a:t>The following function displays the contents </a:t>
            </a:r>
            <a:r>
              <a:rPr lang="en-US" dirty="0"/>
              <a:t>a </a:t>
            </a:r>
            <a:r>
              <a:rPr lang="en-US" b="1" dirty="0">
                <a:solidFill>
                  <a:srgbClr val="0070C0"/>
                </a:solidFill>
                <a:latin typeface="Courier New" panose="02070309020205020404" pitchFamily="49" charset="0"/>
                <a:cs typeface="Courier New" panose="02070309020205020404" pitchFamily="49" charset="0"/>
              </a:rPr>
              <a:t>struct</a:t>
            </a:r>
            <a:r>
              <a:rPr lang="en-US" b="1" dirty="0">
                <a:solidFill>
                  <a:srgbClr val="0070C0"/>
                </a:solidFill>
              </a:rPr>
              <a:t> </a:t>
            </a:r>
            <a:r>
              <a:rPr lang="en-US" dirty="0"/>
              <a:t>variable of type </a:t>
            </a:r>
            <a:r>
              <a:rPr lang="en-US" b="1" dirty="0" err="1">
                <a:latin typeface="Courier New" panose="02070309020205020404" pitchFamily="49" charset="0"/>
                <a:cs typeface="Courier New" panose="02070309020205020404" pitchFamily="49" charset="0"/>
              </a:rPr>
              <a:t>studentType</a:t>
            </a:r>
            <a:r>
              <a:rPr lang="en-US" dirty="0"/>
              <a:t>:</a:t>
            </a:r>
            <a:endParaRPr lang="en-IN" dirty="0"/>
          </a:p>
        </p:txBody>
      </p:sp>
      <p:pic>
        <p:nvPicPr>
          <p:cNvPr id="7" name="Content Placeholder 6" descr="Program code. In the code, the words in the variable names are merged. Line 1. void print student, left parenthesis, student Type student, right parenthesis. Line 2. left brace. Line 3. Indented once, cout, less than, less than, student, period, first Name, less than, less than, left double quotation mark, right double quotation mark, less than, less than, student, period, last Name. Line 4. Indented twice, less than, less than, left double quotation mark, right double quotation mark, less than, less than, Student, period, course Grade. Line 3. Indented twic, less than, less than, left double quotation mark, right double quotation mark, less than, less than, Student, period, test score. Line 4. Indented twice, less than, less than, left double quotation mark, right double quotation mark, less than, less than, Student, period, programming Score. Line 5. Indented twice, less than, less than, left double quotation mark, right double quotation mark, less than, less than, Student, period, GPA, less than, less than, end 1, semi-colon.">
            <a:extLst>
              <a:ext uri="{FF2B5EF4-FFF2-40B4-BE49-F238E27FC236}">
                <a16:creationId xmlns:a16="http://schemas.microsoft.com/office/drawing/2014/main" id="{672C5E60-9877-4F87-8D88-801A850C0C89}"/>
              </a:ext>
            </a:extLst>
          </p:cNvPr>
          <p:cNvPicPr>
            <a:picLocks noGrp="1" noChangeAspect="1"/>
          </p:cNvPicPr>
          <p:nvPr>
            <p:ph idx="11"/>
          </p:nvPr>
        </p:nvPicPr>
        <p:blipFill>
          <a:blip r:embed="rId2"/>
          <a:stretch>
            <a:fillRect/>
          </a:stretch>
        </p:blipFill>
        <p:spPr>
          <a:xfrm>
            <a:off x="630261" y="3276600"/>
            <a:ext cx="7883476" cy="2359689"/>
          </a:xfrm>
        </p:spPr>
      </p:pic>
    </p:spTree>
    <p:extLst>
      <p:ext uri="{BB962C8B-B14F-4D97-AF65-F5344CB8AC3E}">
        <p14:creationId xmlns:p14="http://schemas.microsoft.com/office/powerpoint/2010/main" val="278164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mn-lt"/>
              </a:rPr>
              <a:t>Arrays versus</a:t>
            </a:r>
            <a:r>
              <a:rPr lang="en-US" altLang="en-US" dirty="0"/>
              <a:t> </a:t>
            </a:r>
            <a:r>
              <a:rPr lang="en-US" altLang="en-US" dirty="0">
                <a:latin typeface="Courier New" pitchFamily="49" charset="0"/>
              </a:rPr>
              <a:t>struct</a:t>
            </a:r>
            <a:r>
              <a:rPr lang="en-US" altLang="en-US" dirty="0"/>
              <a:t>s</a:t>
            </a:r>
            <a:endParaRPr lang="en-IN" dirty="0"/>
          </a:p>
        </p:txBody>
      </p:sp>
      <p:sp>
        <p:nvSpPr>
          <p:cNvPr id="3" name="Content Placeholder 2"/>
          <p:cNvSpPr>
            <a:spLocks noGrp="1"/>
          </p:cNvSpPr>
          <p:nvPr>
            <p:ph idx="1"/>
          </p:nvPr>
        </p:nvSpPr>
        <p:spPr>
          <a:xfrm>
            <a:off x="378188" y="1538818"/>
            <a:ext cx="8415338" cy="296235"/>
          </a:xfrm>
        </p:spPr>
        <p:txBody>
          <a:bodyPr/>
          <a:lstStyle/>
          <a:p>
            <a:pPr marL="0" indent="0">
              <a:buNone/>
            </a:pPr>
            <a:r>
              <a:rPr lang="en-US" b="1" dirty="0"/>
              <a:t>TABLE 9-1 </a:t>
            </a:r>
            <a:r>
              <a:rPr lang="en-US" dirty="0"/>
              <a:t>Arrays vs. </a:t>
            </a:r>
            <a:r>
              <a:rPr lang="en-US" b="1" dirty="0">
                <a:solidFill>
                  <a:srgbClr val="0070C0"/>
                </a:solidFill>
                <a:latin typeface="Courier New" panose="02070309020205020404" pitchFamily="49" charset="0"/>
                <a:cs typeface="Courier New" panose="02070309020205020404" pitchFamily="49" charset="0"/>
              </a:rPr>
              <a:t>struct</a:t>
            </a:r>
            <a:r>
              <a:rPr lang="en-US" dirty="0">
                <a:latin typeface="Courier New" panose="02070309020205020404" pitchFamily="49" charset="0"/>
                <a:cs typeface="Courier New" panose="02070309020205020404" pitchFamily="49" charset="0"/>
              </a:rPr>
              <a:t>s</a:t>
            </a:r>
            <a:endParaRPr lang="en-IN" dirty="0"/>
          </a:p>
        </p:txBody>
      </p:sp>
      <p:graphicFrame>
        <p:nvGraphicFramePr>
          <p:cNvPr id="6" name="Content Placeholder 5" descr="Tables are accessible to screen readers."/>
          <p:cNvGraphicFramePr>
            <a:graphicFrameLocks noGrp="1"/>
          </p:cNvGraphicFramePr>
          <p:nvPr>
            <p:ph idx="11"/>
            <p:extLst>
              <p:ext uri="{D42A27DB-BD31-4B8C-83A1-F6EECF244321}">
                <p14:modId xmlns:p14="http://schemas.microsoft.com/office/powerpoint/2010/main" val="574077145"/>
              </p:ext>
            </p:extLst>
          </p:nvPr>
        </p:nvGraphicFramePr>
        <p:xfrm>
          <a:off x="381000" y="2209800"/>
          <a:ext cx="8415339" cy="2595880"/>
        </p:xfrm>
        <a:graphic>
          <a:graphicData uri="http://schemas.openxmlformats.org/drawingml/2006/table">
            <a:tbl>
              <a:tblPr firstRow="1" bandRow="1">
                <a:tableStyleId>{2D5ABB26-0587-4C30-8999-92F81FD0307C}</a:tableStyleId>
              </a:tblPr>
              <a:tblGrid>
                <a:gridCol w="2805113">
                  <a:extLst>
                    <a:ext uri="{9D8B030D-6E8A-4147-A177-3AD203B41FA5}">
                      <a16:colId xmlns:a16="http://schemas.microsoft.com/office/drawing/2014/main" val="20000"/>
                    </a:ext>
                  </a:extLst>
                </a:gridCol>
                <a:gridCol w="2805113">
                  <a:extLst>
                    <a:ext uri="{9D8B030D-6E8A-4147-A177-3AD203B41FA5}">
                      <a16:colId xmlns:a16="http://schemas.microsoft.com/office/drawing/2014/main" val="20001"/>
                    </a:ext>
                  </a:extLst>
                </a:gridCol>
                <a:gridCol w="2805113">
                  <a:extLst>
                    <a:ext uri="{9D8B030D-6E8A-4147-A177-3AD203B41FA5}">
                      <a16:colId xmlns:a16="http://schemas.microsoft.com/office/drawing/2014/main" val="20002"/>
                    </a:ext>
                  </a:extLst>
                </a:gridCol>
              </a:tblGrid>
              <a:tr h="370840">
                <a:tc>
                  <a:txBody>
                    <a:bodyPr/>
                    <a:lstStyle/>
                    <a:p>
                      <a:r>
                        <a:rPr lang="en-US" sz="1800" b="1" i="0" u="none" strike="noStrike" kern="1200" baseline="0" dirty="0">
                          <a:solidFill>
                            <a:schemeClr val="tx1"/>
                          </a:solidFill>
                          <a:latin typeface="+mn-lt"/>
                          <a:ea typeface="+mn-ea"/>
                          <a:cs typeface="+mn-cs"/>
                        </a:rPr>
                        <a:t>Data Type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solidFill>
                            <a:schemeClr val="tx1"/>
                          </a:solidFill>
                        </a:rPr>
                        <a:t>Array</a:t>
                      </a:r>
                      <a:endParaRPr lang="en-IN"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solidFill>
                            <a:srgbClr val="0070C0"/>
                          </a:solidFill>
                          <a:latin typeface="Courier New" panose="02070309020205020404" pitchFamily="49" charset="0"/>
                          <a:cs typeface="Courier New" panose="02070309020205020404" pitchFamily="49" charset="0"/>
                        </a:rPr>
                        <a:t>struct</a:t>
                      </a:r>
                      <a:endParaRPr lang="en-IN" b="1"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tx1">
                              <a:lumMod val="75000"/>
                              <a:lumOff val="25000"/>
                            </a:schemeClr>
                          </a:solidFill>
                          <a:latin typeface="+mn-lt"/>
                          <a:ea typeface="+mn-ea"/>
                          <a:cs typeface="+mn-cs"/>
                        </a:rPr>
                        <a:t>Arithmetic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u="none" strike="noStrike" kern="1200" baseline="0" dirty="0">
                          <a:solidFill>
                            <a:schemeClr val="tx1">
                              <a:lumMod val="75000"/>
                              <a:lumOff val="25000"/>
                            </a:schemeClr>
                          </a:solidFill>
                          <a:latin typeface="+mn-lt"/>
                          <a:ea typeface="+mn-ea"/>
                          <a:cs typeface="+mn-cs"/>
                        </a:rPr>
                        <a:t>No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u="none" strike="noStrike" kern="1200" baseline="0" dirty="0">
                          <a:solidFill>
                            <a:schemeClr val="tx1">
                              <a:lumMod val="75000"/>
                              <a:lumOff val="25000"/>
                            </a:schemeClr>
                          </a:solidFill>
                          <a:latin typeface="+mn-lt"/>
                          <a:ea typeface="+mn-ea"/>
                          <a:cs typeface="+mn-cs"/>
                        </a:rPr>
                        <a:t>No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b="0" i="0" u="none" strike="noStrike" kern="1200" baseline="0" dirty="0">
                          <a:solidFill>
                            <a:schemeClr val="tx1">
                              <a:lumMod val="75000"/>
                              <a:lumOff val="25000"/>
                            </a:schemeClr>
                          </a:solidFill>
                          <a:latin typeface="+mn-lt"/>
                          <a:ea typeface="+mn-ea"/>
                          <a:cs typeface="+mn-cs"/>
                        </a:rPr>
                        <a:t>Assignment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u="none" strike="noStrike" kern="1200" baseline="0" dirty="0">
                          <a:solidFill>
                            <a:schemeClr val="tx1">
                              <a:lumMod val="75000"/>
                              <a:lumOff val="25000"/>
                            </a:schemeClr>
                          </a:solidFill>
                          <a:latin typeface="+mn-lt"/>
                          <a:ea typeface="+mn-ea"/>
                          <a:cs typeface="+mn-cs"/>
                        </a:rPr>
                        <a:t>No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u="none" strike="noStrike" kern="1200" baseline="0" dirty="0">
                          <a:solidFill>
                            <a:schemeClr val="tx1">
                              <a:lumMod val="75000"/>
                              <a:lumOff val="25000"/>
                            </a:schemeClr>
                          </a:solidFill>
                          <a:latin typeface="+mn-lt"/>
                          <a:ea typeface="+mn-ea"/>
                          <a:cs typeface="+mn-cs"/>
                        </a:rPr>
                        <a:t>Yes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b="0" i="0" u="none" strike="noStrike" kern="1200" baseline="0" dirty="0">
                          <a:solidFill>
                            <a:schemeClr val="tx1">
                              <a:lumMod val="75000"/>
                              <a:lumOff val="25000"/>
                            </a:schemeClr>
                          </a:solidFill>
                          <a:latin typeface="+mn-lt"/>
                          <a:ea typeface="+mn-ea"/>
                          <a:cs typeface="+mn-cs"/>
                        </a:rPr>
                        <a:t>Input/output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tx1">
                              <a:lumMod val="75000"/>
                              <a:lumOff val="25000"/>
                            </a:schemeClr>
                          </a:solidFill>
                          <a:latin typeface="+mn-lt"/>
                          <a:ea typeface="+mn-ea"/>
                          <a:cs typeface="+mn-cs"/>
                        </a:rPr>
                        <a:t>No (except strings)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u="none" strike="noStrike" kern="1200" baseline="0" dirty="0">
                          <a:solidFill>
                            <a:schemeClr val="tx1">
                              <a:lumMod val="75000"/>
                              <a:lumOff val="25000"/>
                            </a:schemeClr>
                          </a:solidFill>
                          <a:latin typeface="+mn-lt"/>
                          <a:ea typeface="+mn-ea"/>
                          <a:cs typeface="+mn-cs"/>
                        </a:rPr>
                        <a:t>No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800" b="0" i="0" u="none" strike="noStrike" kern="1200" baseline="0" dirty="0">
                          <a:solidFill>
                            <a:schemeClr val="tx1">
                              <a:lumMod val="75000"/>
                              <a:lumOff val="25000"/>
                            </a:schemeClr>
                          </a:solidFill>
                          <a:latin typeface="+mn-lt"/>
                          <a:ea typeface="+mn-ea"/>
                          <a:cs typeface="+mn-cs"/>
                        </a:rPr>
                        <a:t>Comparison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tx1">
                              <a:lumMod val="75000"/>
                              <a:lumOff val="25000"/>
                            </a:schemeClr>
                          </a:solidFill>
                          <a:latin typeface="+mn-lt"/>
                          <a:ea typeface="+mn-ea"/>
                          <a:cs typeface="+mn-cs"/>
                        </a:rPr>
                        <a:t>No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u="none" strike="noStrike" kern="1200" baseline="0" dirty="0">
                          <a:solidFill>
                            <a:schemeClr val="tx1">
                              <a:lumMod val="75000"/>
                              <a:lumOff val="25000"/>
                            </a:schemeClr>
                          </a:solidFill>
                          <a:latin typeface="+mn-lt"/>
                          <a:ea typeface="+mn-ea"/>
                          <a:cs typeface="+mn-cs"/>
                        </a:rPr>
                        <a:t>No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800" b="0" i="0" u="none" strike="noStrike" kern="1200" baseline="0" dirty="0">
                          <a:solidFill>
                            <a:schemeClr val="tx1">
                              <a:lumMod val="75000"/>
                              <a:lumOff val="25000"/>
                            </a:schemeClr>
                          </a:solidFill>
                          <a:latin typeface="+mn-lt"/>
                          <a:ea typeface="+mn-ea"/>
                          <a:cs typeface="+mn-cs"/>
                        </a:rPr>
                        <a:t>Parameter passing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tx1">
                              <a:lumMod val="75000"/>
                              <a:lumOff val="25000"/>
                            </a:schemeClr>
                          </a:solidFill>
                          <a:latin typeface="+mn-lt"/>
                          <a:ea typeface="+mn-ea"/>
                          <a:cs typeface="+mn-cs"/>
                        </a:rPr>
                        <a:t>By reference only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u="none" strike="noStrike" kern="1200" baseline="0" dirty="0">
                          <a:solidFill>
                            <a:schemeClr val="tx1">
                              <a:lumMod val="75000"/>
                              <a:lumOff val="25000"/>
                            </a:schemeClr>
                          </a:solidFill>
                          <a:latin typeface="+mn-lt"/>
                          <a:ea typeface="+mn-ea"/>
                          <a:cs typeface="+mn-cs"/>
                        </a:rPr>
                        <a:t>By value or by reference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1800" b="0" i="0" u="none" strike="noStrike" kern="1200" baseline="0" dirty="0">
                          <a:solidFill>
                            <a:schemeClr val="tx1">
                              <a:lumMod val="75000"/>
                              <a:lumOff val="25000"/>
                            </a:schemeClr>
                          </a:solidFill>
                          <a:latin typeface="+mn-lt"/>
                          <a:ea typeface="+mn-ea"/>
                          <a:cs typeface="+mn-cs"/>
                        </a:rPr>
                        <a:t>Function returning a value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tx1">
                              <a:lumMod val="75000"/>
                              <a:lumOff val="25000"/>
                            </a:schemeClr>
                          </a:solidFill>
                          <a:latin typeface="+mn-lt"/>
                          <a:ea typeface="+mn-ea"/>
                          <a:cs typeface="+mn-cs"/>
                        </a:rPr>
                        <a:t>No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u="none" strike="noStrike" kern="1200" baseline="0" dirty="0">
                          <a:solidFill>
                            <a:schemeClr val="tx1">
                              <a:lumMod val="75000"/>
                              <a:lumOff val="25000"/>
                            </a:schemeClr>
                          </a:solidFill>
                          <a:latin typeface="+mn-lt"/>
                          <a:ea typeface="+mn-ea"/>
                          <a:cs typeface="+mn-cs"/>
                        </a:rPr>
                        <a:t>Yes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51577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mn-lt"/>
              </a:rPr>
              <a:t>Arrays in </a:t>
            </a:r>
            <a:r>
              <a:rPr lang="en-US" altLang="en-US" dirty="0">
                <a:latin typeface="Courier New" pitchFamily="49" charset="0"/>
              </a:rPr>
              <a:t>struct</a:t>
            </a:r>
            <a:r>
              <a:rPr lang="en-US" altLang="en-US" dirty="0"/>
              <a:t>s </a:t>
            </a:r>
            <a:r>
              <a:rPr lang="en-US" altLang="en-US" dirty="0">
                <a:latin typeface="+mn-lt"/>
              </a:rPr>
              <a:t>(1 of 3)</a:t>
            </a:r>
            <a:endParaRPr lang="en-IN" dirty="0">
              <a:latin typeface="+mn-lt"/>
            </a:endParaRPr>
          </a:p>
        </p:txBody>
      </p:sp>
      <p:sp>
        <p:nvSpPr>
          <p:cNvPr id="3" name="Content Placeholder 2"/>
          <p:cNvSpPr>
            <a:spLocks noGrp="1"/>
          </p:cNvSpPr>
          <p:nvPr>
            <p:ph idx="1"/>
          </p:nvPr>
        </p:nvSpPr>
        <p:spPr>
          <a:xfrm>
            <a:off x="365125" y="1538818"/>
            <a:ext cx="8415338" cy="1422697"/>
          </a:xfrm>
        </p:spPr>
        <p:txBody>
          <a:bodyPr/>
          <a:lstStyle/>
          <a:p>
            <a:r>
              <a:rPr lang="en-US" altLang="en-US" dirty="0"/>
              <a:t>Two items are associated with a list: </a:t>
            </a:r>
          </a:p>
          <a:p>
            <a:pPr lvl="1"/>
            <a:r>
              <a:rPr lang="en-US" altLang="en-US" dirty="0"/>
              <a:t>Values (elements)</a:t>
            </a:r>
          </a:p>
          <a:p>
            <a:pPr lvl="1"/>
            <a:r>
              <a:rPr lang="en-US" altLang="en-US" dirty="0"/>
              <a:t>Length of the list</a:t>
            </a:r>
          </a:p>
          <a:p>
            <a:r>
              <a:rPr lang="en-US" altLang="en-US" dirty="0"/>
              <a:t>Define a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containing both items:</a:t>
            </a:r>
            <a:endParaRPr lang="en-IN" dirty="0"/>
          </a:p>
        </p:txBody>
      </p:sp>
      <p:pic>
        <p:nvPicPr>
          <p:cNvPr id="8" name="Content Placeholder 7" descr="Program code. In the code, the words in the variable names are merged. Line 1. const i n t ARRAY, underscore, SIZE, equals, 1000, semi-colon. Line 2. struct list Type. Line 3. left brace. Line 4. Indented once, i n t list Elem, left bracket, ARRAY, underscore, SIZE, right bracket, semi-colon, forward slash, forward slash, array containing the list. Line 5. Indented once, i n t list Length, semi-colon, forward slash, forward slash, length of the list. Line 6. right brace, semi-colon.">
            <a:extLst>
              <a:ext uri="{FF2B5EF4-FFF2-40B4-BE49-F238E27FC236}">
                <a16:creationId xmlns:a16="http://schemas.microsoft.com/office/drawing/2014/main" id="{994B61E5-0E09-4F1C-A8A2-B9B9CF551423}"/>
              </a:ext>
            </a:extLst>
          </p:cNvPr>
          <p:cNvPicPr>
            <a:picLocks noGrp="1" noChangeAspect="1"/>
          </p:cNvPicPr>
          <p:nvPr>
            <p:ph idx="11"/>
          </p:nvPr>
        </p:nvPicPr>
        <p:blipFill>
          <a:blip r:embed="rId2"/>
          <a:stretch>
            <a:fillRect/>
          </a:stretch>
        </p:blipFill>
        <p:spPr>
          <a:xfrm>
            <a:off x="419712" y="3138118"/>
            <a:ext cx="7514324" cy="1709579"/>
          </a:xfrm>
          <a:prstGeom prst="rect">
            <a:avLst/>
          </a:prstGeom>
        </p:spPr>
      </p:pic>
    </p:spTree>
    <p:extLst>
      <p:ext uri="{BB962C8B-B14F-4D97-AF65-F5344CB8AC3E}">
        <p14:creationId xmlns:p14="http://schemas.microsoft.com/office/powerpoint/2010/main" val="1226276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mn-lt"/>
              </a:rPr>
              <a:t>Arrays in </a:t>
            </a:r>
            <a:r>
              <a:rPr lang="en-US" altLang="en-US" dirty="0">
                <a:latin typeface="Courier New" pitchFamily="49" charset="0"/>
              </a:rPr>
              <a:t>struct</a:t>
            </a:r>
            <a:r>
              <a:rPr lang="en-US" altLang="en-US" dirty="0"/>
              <a:t>s </a:t>
            </a:r>
            <a:r>
              <a:rPr lang="en-US" altLang="en-US" dirty="0">
                <a:latin typeface="+mn-lt"/>
              </a:rPr>
              <a:t>(2 of 3)</a:t>
            </a:r>
            <a:endParaRPr lang="en-IN" dirty="0">
              <a:latin typeface="+mn-lt"/>
            </a:endParaRPr>
          </a:p>
        </p:txBody>
      </p:sp>
      <p:sp>
        <p:nvSpPr>
          <p:cNvPr id="3" name="Content Placeholder 2"/>
          <p:cNvSpPr>
            <a:spLocks noGrp="1"/>
          </p:cNvSpPr>
          <p:nvPr>
            <p:ph idx="1"/>
          </p:nvPr>
        </p:nvSpPr>
        <p:spPr>
          <a:xfrm>
            <a:off x="365125" y="1538818"/>
            <a:ext cx="8415338" cy="296235"/>
          </a:xfrm>
        </p:spPr>
        <p:txBody>
          <a:bodyPr/>
          <a:lstStyle/>
          <a:p>
            <a:pPr marL="0" indent="0">
              <a:buNone/>
            </a:pPr>
            <a:r>
              <a:rPr lang="en-US" b="1" dirty="0"/>
              <a:t>FIGURE 9-5 </a:t>
            </a:r>
            <a:r>
              <a:rPr lang="en-US" b="1" dirty="0">
                <a:latin typeface="Courier New" panose="02070309020205020404" pitchFamily="49" charset="0"/>
                <a:cs typeface="Courier New" panose="02070309020205020404" pitchFamily="49" charset="0"/>
              </a:rPr>
              <a:t>struct</a:t>
            </a:r>
            <a:r>
              <a:rPr lang="en-US" b="1" dirty="0"/>
              <a:t> </a:t>
            </a:r>
            <a:r>
              <a:rPr lang="en-US" dirty="0"/>
              <a:t>variable </a:t>
            </a:r>
            <a:r>
              <a:rPr lang="en-US" b="1" dirty="0" err="1">
                <a:latin typeface="Courier New" panose="02070309020205020404" pitchFamily="49" charset="0"/>
                <a:cs typeface="Courier New" panose="02070309020205020404" pitchFamily="49" charset="0"/>
              </a:rPr>
              <a:t>intList</a:t>
            </a:r>
            <a:endParaRPr lang="en-IN" dirty="0"/>
          </a:p>
        </p:txBody>
      </p:sp>
      <p:pic>
        <p:nvPicPr>
          <p:cNvPr id="5122" name="Content Placeholder 3" descr="A list of Array in structs. A memory allocation blocks for int List has 1000 components arranged from top to bottom is as follows. List Elem: List Elem left bracket 0 right bracket, list Elem left bracket 1 right bracket, list Elem left bracket 2 right bracket, ellipsis, list elem left bracket 999 right bracket. A box is labeled list length."/>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785857" y="2423665"/>
            <a:ext cx="7792340" cy="2753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679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10490"/>
            <a:ext cx="8026400" cy="287771"/>
          </a:xfrm>
        </p:spPr>
        <p:txBody>
          <a:bodyPr/>
          <a:lstStyle/>
          <a:p>
            <a:r>
              <a:rPr lang="en-US" altLang="en-US" dirty="0">
                <a:latin typeface="+mn-lt"/>
              </a:rPr>
              <a:t>Arrays in </a:t>
            </a:r>
            <a:r>
              <a:rPr lang="en-US" altLang="en-US" dirty="0">
                <a:latin typeface="Courier New" pitchFamily="49" charset="0"/>
              </a:rPr>
              <a:t>struct</a:t>
            </a:r>
            <a:r>
              <a:rPr lang="en-US" altLang="en-US" dirty="0"/>
              <a:t>s </a:t>
            </a:r>
            <a:r>
              <a:rPr lang="en-US" altLang="en-US" dirty="0">
                <a:latin typeface="+mn-lt"/>
              </a:rPr>
              <a:t>(3 of 3)</a:t>
            </a:r>
            <a:endParaRPr lang="en-IN" dirty="0">
              <a:latin typeface="+mn-lt"/>
            </a:endParaRPr>
          </a:p>
        </p:txBody>
      </p:sp>
      <p:sp>
        <p:nvSpPr>
          <p:cNvPr id="3" name="Content Placeholder 2"/>
          <p:cNvSpPr>
            <a:spLocks noGrp="1"/>
          </p:cNvSpPr>
          <p:nvPr>
            <p:ph idx="1"/>
          </p:nvPr>
        </p:nvSpPr>
        <p:spPr>
          <a:xfrm>
            <a:off x="365125" y="1538819"/>
            <a:ext cx="8415338" cy="584775"/>
          </a:xfrm>
        </p:spPr>
        <p:txBody>
          <a:bodyPr/>
          <a:lstStyle/>
          <a:p>
            <a:r>
              <a:rPr lang="en-US" dirty="0"/>
              <a:t>Consider these statements and refer to the figure below showing the results following execution of the statements:</a:t>
            </a:r>
            <a:endParaRPr lang="en-IN" dirty="0"/>
          </a:p>
        </p:txBody>
      </p:sp>
      <p:pic>
        <p:nvPicPr>
          <p:cNvPr id="9" name="Content Placeholder 8" descr="Program code. In the code, the words in the variable names are merged. Line 1. i n t List, period, list Length, equals, 0, semi-colon, forward slash, forward slash, Line 1. Line 2. i n t List, period, list Elem, left bracket, 0, right bracket, equals, 12, semi-colon,  forward slash, forward slash, Line 2. Line 3. i n t List, period, list Length, plus, plus, semi-colon, forward slash, forward slash, Line 3. Line 4. i n t List, period, list Elem, left bracket, 1, right bracket, equals, 37, semi-colon, forward slash, forward slash, Line 4. Line 5. i n t List, period, list Length, plus, plus, semi-colon, forward slash, forward slash, Line 5.">
            <a:extLst>
              <a:ext uri="{FF2B5EF4-FFF2-40B4-BE49-F238E27FC236}">
                <a16:creationId xmlns:a16="http://schemas.microsoft.com/office/drawing/2014/main" id="{0B9CC8F0-01C5-4919-8A11-5A86213354F6}"/>
              </a:ext>
            </a:extLst>
          </p:cNvPr>
          <p:cNvPicPr>
            <a:picLocks noGrp="1" noChangeAspect="1"/>
          </p:cNvPicPr>
          <p:nvPr>
            <p:ph idx="11"/>
          </p:nvPr>
        </p:nvPicPr>
        <p:blipFill rotWithShape="1">
          <a:blip r:embed="rId2"/>
          <a:srcRect b="5985"/>
          <a:stretch/>
        </p:blipFill>
        <p:spPr>
          <a:xfrm>
            <a:off x="397164" y="2197483"/>
            <a:ext cx="4786156" cy="1371600"/>
          </a:xfrm>
          <a:prstGeom prst="rect">
            <a:avLst/>
          </a:prstGeom>
        </p:spPr>
      </p:pic>
      <p:sp>
        <p:nvSpPr>
          <p:cNvPr id="6" name="Content Placeholder 5"/>
          <p:cNvSpPr>
            <a:spLocks noGrp="1"/>
          </p:cNvSpPr>
          <p:nvPr>
            <p:ph idx="12"/>
          </p:nvPr>
        </p:nvSpPr>
        <p:spPr>
          <a:xfrm>
            <a:off x="381000" y="3668485"/>
            <a:ext cx="8415338" cy="296235"/>
          </a:xfrm>
        </p:spPr>
        <p:txBody>
          <a:bodyPr/>
          <a:lstStyle/>
          <a:p>
            <a:pPr marL="0" indent="0">
              <a:buNone/>
            </a:pPr>
            <a:r>
              <a:rPr lang="en-US" b="1" dirty="0"/>
              <a:t>FIGURE 9-6 </a:t>
            </a:r>
            <a:r>
              <a:rPr lang="en-US" b="1" dirty="0" err="1">
                <a:latin typeface="Courier New" panose="02070309020205020404" pitchFamily="49" charset="0"/>
                <a:cs typeface="Courier New" panose="02070309020205020404" pitchFamily="49" charset="0"/>
              </a:rPr>
              <a:t>intList</a:t>
            </a:r>
            <a:r>
              <a:rPr lang="en-US" b="1" dirty="0"/>
              <a:t> </a:t>
            </a:r>
            <a:r>
              <a:rPr lang="en-US" dirty="0"/>
              <a:t>after the statements in Lines 1 through 5 execute</a:t>
            </a:r>
            <a:endParaRPr lang="en-IN" dirty="0"/>
          </a:p>
        </p:txBody>
      </p:sp>
      <p:pic>
        <p:nvPicPr>
          <p:cNvPr id="6147" name="Content Placeholder 6" descr="A list of Array in structs. A memory allocation blocks for int List has 1000 components arranged from top to bottom is as follows. List Elem: List Elem left bracket 0 right bracket, 12. list Elem left bracket 1 right bracket, 37. list Elem left bracket 2 right bracket, blank. Ellipsis. list elem left bracket 999 right bracket, blank. A box is labeled list length is 2."/>
          <p:cNvPicPr>
            <a:picLocks noGrp="1" noChangeAspect="1" noChangeArrowheads="1"/>
          </p:cNvPicPr>
          <p:nvPr>
            <p:ph idx="13"/>
          </p:nvPr>
        </p:nvPicPr>
        <p:blipFill>
          <a:blip r:embed="rId3">
            <a:extLst>
              <a:ext uri="{28A0092B-C50C-407E-A947-70E740481C1C}">
                <a14:useLocalDpi xmlns:a14="http://schemas.microsoft.com/office/drawing/2010/main" val="0"/>
              </a:ext>
            </a:extLst>
          </a:blip>
          <a:srcRect/>
          <a:stretch>
            <a:fillRect/>
          </a:stretch>
        </p:blipFill>
        <p:spPr bwMode="auto">
          <a:xfrm>
            <a:off x="1634826" y="4155120"/>
            <a:ext cx="5264518" cy="202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305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Courier New" pitchFamily="49" charset="0"/>
              </a:rPr>
              <a:t>struct</a:t>
            </a:r>
            <a:r>
              <a:rPr lang="en-US" altLang="en-US" dirty="0"/>
              <a:t>s </a:t>
            </a:r>
            <a:r>
              <a:rPr lang="en-US" altLang="en-US" dirty="0">
                <a:latin typeface="+mn-lt"/>
              </a:rPr>
              <a:t>in Arrays (1 of 2) </a:t>
            </a:r>
            <a:endParaRPr lang="en-IN" dirty="0">
              <a:latin typeface="+mn-lt"/>
            </a:endParaRPr>
          </a:p>
        </p:txBody>
      </p:sp>
      <p:sp>
        <p:nvSpPr>
          <p:cNvPr id="3" name="Content Placeholder 2"/>
          <p:cNvSpPr>
            <a:spLocks noGrp="1"/>
          </p:cNvSpPr>
          <p:nvPr>
            <p:ph idx="1"/>
          </p:nvPr>
        </p:nvSpPr>
        <p:spPr>
          <a:xfrm>
            <a:off x="365125" y="1538818"/>
            <a:ext cx="8415338" cy="292388"/>
          </a:xfrm>
        </p:spPr>
        <p:txBody>
          <a:bodyPr/>
          <a:lstStyle/>
          <a:p>
            <a:r>
              <a:rPr lang="en-US" altLang="en-US" dirty="0"/>
              <a:t>Example</a:t>
            </a:r>
            <a:endParaRPr lang="en-IN" dirty="0"/>
          </a:p>
        </p:txBody>
      </p:sp>
      <p:pic>
        <p:nvPicPr>
          <p:cNvPr id="7" name="Content Placeholder 6" descr="Program code. In the code, the words in the variable names are merged. Line 1. struct employee Type. Line 2. left brace. Line 3. Indented once, string firt Name, semi-colon. Line 4. Indented once, string last Name, semi-colon. Line 5. Indented once, i n t person ID, semi-colon. Line 6. Indented once, string dept ID, semi-colon. Line 7. Indented once, double yearly salary, semi-colon. Line 8. Indented once, double monthly salary, semi-colon. Line 9. Indented once, double year To Date Paid, semi-colon. Line 10. Indented once, double monthly Bonus, semi-colon. Line 11. right brace, semi-colon.">
            <a:extLst>
              <a:ext uri="{FF2B5EF4-FFF2-40B4-BE49-F238E27FC236}">
                <a16:creationId xmlns:a16="http://schemas.microsoft.com/office/drawing/2014/main" id="{F3319B9F-901F-4F3E-8BFA-E48CB38CD5EA}"/>
              </a:ext>
            </a:extLst>
          </p:cNvPr>
          <p:cNvPicPr>
            <a:picLocks noGrp="1" noChangeAspect="1"/>
          </p:cNvPicPr>
          <p:nvPr>
            <p:ph idx="11"/>
          </p:nvPr>
        </p:nvPicPr>
        <p:blipFill>
          <a:blip r:embed="rId2"/>
          <a:stretch>
            <a:fillRect/>
          </a:stretch>
        </p:blipFill>
        <p:spPr>
          <a:xfrm>
            <a:off x="1006371" y="1937256"/>
            <a:ext cx="3874995" cy="3140746"/>
          </a:xfrm>
        </p:spPr>
      </p:pic>
    </p:spTree>
    <p:extLst>
      <p:ext uri="{BB962C8B-B14F-4D97-AF65-F5344CB8AC3E}">
        <p14:creationId xmlns:p14="http://schemas.microsoft.com/office/powerpoint/2010/main" val="587312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Courier New" pitchFamily="49" charset="0"/>
                <a:cs typeface="Courier New" pitchFamily="49" charset="0"/>
              </a:rPr>
              <a:t>structs</a:t>
            </a:r>
            <a:r>
              <a:rPr lang="en-US" altLang="en-US" dirty="0"/>
              <a:t> </a:t>
            </a:r>
            <a:r>
              <a:rPr lang="en-US" altLang="en-US" dirty="0">
                <a:latin typeface="+mn-lt"/>
              </a:rPr>
              <a:t>in Arrays (2 of 2)</a:t>
            </a:r>
            <a:endParaRPr lang="en-IN" dirty="0">
              <a:latin typeface="+mn-lt"/>
            </a:endParaRPr>
          </a:p>
        </p:txBody>
      </p:sp>
      <p:sp>
        <p:nvSpPr>
          <p:cNvPr id="3" name="Content Placeholder 2"/>
          <p:cNvSpPr>
            <a:spLocks noGrp="1"/>
          </p:cNvSpPr>
          <p:nvPr>
            <p:ph idx="1"/>
          </p:nvPr>
        </p:nvSpPr>
        <p:spPr>
          <a:xfrm>
            <a:off x="365125" y="1538819"/>
            <a:ext cx="8415338" cy="296235"/>
          </a:xfrm>
        </p:spPr>
        <p:txBody>
          <a:bodyPr/>
          <a:lstStyle/>
          <a:p>
            <a:pPr marL="0" indent="0">
              <a:buNone/>
            </a:pPr>
            <a:r>
              <a:rPr lang="en-US" b="1" dirty="0" err="1">
                <a:latin typeface="Courier New" panose="02070309020205020404" pitchFamily="49" charset="0"/>
                <a:cs typeface="Courier New" panose="02070309020205020404" pitchFamily="49" charset="0"/>
              </a:rPr>
              <a:t>employeeType</a:t>
            </a:r>
            <a:r>
              <a:rPr lang="en-US" b="1" dirty="0">
                <a:latin typeface="Courier New" panose="02070309020205020404" pitchFamily="49" charset="0"/>
                <a:cs typeface="Courier New" panose="02070309020205020404" pitchFamily="49" charset="0"/>
              </a:rPr>
              <a:t> employees[50]</a:t>
            </a:r>
          </a:p>
        </p:txBody>
      </p:sp>
      <p:sp>
        <p:nvSpPr>
          <p:cNvPr id="4" name="Content Placeholder 3"/>
          <p:cNvSpPr>
            <a:spLocks noGrp="1"/>
          </p:cNvSpPr>
          <p:nvPr>
            <p:ph idx="11"/>
          </p:nvPr>
        </p:nvSpPr>
        <p:spPr>
          <a:xfrm>
            <a:off x="394164" y="2039981"/>
            <a:ext cx="8415338" cy="266611"/>
          </a:xfrm>
        </p:spPr>
        <p:txBody>
          <a:bodyPr/>
          <a:lstStyle/>
          <a:p>
            <a:pPr lvl="1"/>
            <a:r>
              <a:rPr lang="en-US" dirty="0"/>
              <a:t>Declares the array </a:t>
            </a:r>
            <a:r>
              <a:rPr lang="en-US" b="1" dirty="0">
                <a:latin typeface="Courier New" panose="02070309020205020404" pitchFamily="49" charset="0"/>
                <a:cs typeface="Courier New" panose="02070309020205020404" pitchFamily="49" charset="0"/>
              </a:rPr>
              <a:t>employees</a:t>
            </a:r>
            <a:r>
              <a:rPr lang="en-US" b="1" dirty="0"/>
              <a:t> </a:t>
            </a:r>
            <a:r>
              <a:rPr lang="en-US" dirty="0"/>
              <a:t>of </a:t>
            </a:r>
            <a:r>
              <a:rPr lang="en-US" b="1" dirty="0">
                <a:latin typeface="Courier New" panose="02070309020205020404" pitchFamily="49" charset="0"/>
                <a:cs typeface="Courier New" panose="02070309020205020404" pitchFamily="49" charset="0"/>
              </a:rPr>
              <a:t>50</a:t>
            </a:r>
            <a:r>
              <a:rPr lang="en-US" b="1" dirty="0"/>
              <a:t> </a:t>
            </a:r>
            <a:r>
              <a:rPr lang="en-US" dirty="0"/>
              <a:t>components of type </a:t>
            </a:r>
            <a:r>
              <a:rPr lang="en-US" b="1" dirty="0" err="1">
                <a:latin typeface="Courier New" panose="02070309020205020404" pitchFamily="49" charset="0"/>
                <a:cs typeface="Courier New" panose="02070309020205020404" pitchFamily="49" charset="0"/>
              </a:rPr>
              <a:t>employeeType</a:t>
            </a:r>
            <a:endParaRPr lang="en-US" b="1" dirty="0">
              <a:latin typeface="Courier New" panose="02070309020205020404" pitchFamily="49" charset="0"/>
              <a:cs typeface="Courier New" panose="02070309020205020404" pitchFamily="49" charset="0"/>
            </a:endParaRPr>
          </a:p>
        </p:txBody>
      </p:sp>
      <p:sp>
        <p:nvSpPr>
          <p:cNvPr id="6" name="Content Placeholder 5"/>
          <p:cNvSpPr>
            <a:spLocks noGrp="1"/>
          </p:cNvSpPr>
          <p:nvPr>
            <p:ph idx="12"/>
          </p:nvPr>
        </p:nvSpPr>
        <p:spPr>
          <a:xfrm>
            <a:off x="381000" y="2514600"/>
            <a:ext cx="8415338" cy="296235"/>
          </a:xfrm>
        </p:spPr>
        <p:txBody>
          <a:bodyPr/>
          <a:lstStyle/>
          <a:p>
            <a:pPr marL="0" indent="0">
              <a:buNone/>
            </a:pPr>
            <a:r>
              <a:rPr lang="en-US" b="1" dirty="0"/>
              <a:t>FIGURE 9-7 </a:t>
            </a:r>
            <a:r>
              <a:rPr lang="en-US" dirty="0"/>
              <a:t>Array of </a:t>
            </a:r>
            <a:r>
              <a:rPr lang="en-US" b="1" dirty="0">
                <a:latin typeface="Courier New" panose="02070309020205020404" pitchFamily="49" charset="0"/>
                <a:cs typeface="Courier New" panose="02070309020205020404" pitchFamily="49" charset="0"/>
              </a:rPr>
              <a:t>employees</a:t>
            </a:r>
            <a:endParaRPr lang="en-IN" dirty="0"/>
          </a:p>
        </p:txBody>
      </p:sp>
      <p:pic>
        <p:nvPicPr>
          <p:cNvPr id="7170" name="Content Placeholder 6" descr="An array of employees. A table labeled employees has 5 rows. From top to bottom, the row headers are left bracket 0 right bracket, left bracket 1 right bracket, left bracket 2 right bracket, ellipsis, left bracket 49 right bracket. An arrow from left bracket 2 right bracket points to employees left bracket 2 right bracket with 8 components arranged from top to bottom are as follows. First name, last name, person I D, dep I V, yearly salary, monthly salary, year to Date Paid, Monthly Bonus. "/>
          <p:cNvPicPr>
            <a:picLocks noGrp="1" noChangeAspect="1" noChangeArrowheads="1"/>
          </p:cNvPicPr>
          <p:nvPr>
            <p:ph idx="13"/>
          </p:nvPr>
        </p:nvPicPr>
        <p:blipFill>
          <a:blip r:embed="rId2">
            <a:extLst>
              <a:ext uri="{28A0092B-C50C-407E-A947-70E740481C1C}">
                <a14:useLocalDpi xmlns:a14="http://schemas.microsoft.com/office/drawing/2010/main" val="0"/>
              </a:ext>
            </a:extLst>
          </a:blip>
          <a:srcRect/>
          <a:stretch>
            <a:fillRect/>
          </a:stretch>
        </p:blipFill>
        <p:spPr bwMode="auto">
          <a:xfrm>
            <a:off x="1371600" y="3048000"/>
            <a:ext cx="5783160" cy="245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0512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4142"/>
            <a:ext cx="8026400" cy="300467"/>
          </a:xfrm>
        </p:spPr>
        <p:txBody>
          <a:bodyPr/>
          <a:lstStyle/>
          <a:p>
            <a:r>
              <a:rPr lang="en-US" altLang="en-US" dirty="0">
                <a:latin typeface="Courier New" pitchFamily="49" charset="0"/>
              </a:rPr>
              <a:t>struct</a:t>
            </a:r>
            <a:r>
              <a:rPr lang="en-US" altLang="en-US" dirty="0"/>
              <a:t>s </a:t>
            </a:r>
            <a:r>
              <a:rPr lang="en-US" altLang="en-US" dirty="0">
                <a:latin typeface="+mn-lt"/>
              </a:rPr>
              <a:t>within a</a:t>
            </a:r>
            <a:r>
              <a:rPr lang="en-US" altLang="en-US" dirty="0"/>
              <a:t> </a:t>
            </a:r>
            <a:r>
              <a:rPr lang="en-US" altLang="en-US" dirty="0">
                <a:latin typeface="Courier New" pitchFamily="49" charset="0"/>
              </a:rPr>
              <a:t>struct</a:t>
            </a:r>
            <a:endParaRPr lang="en-IN" dirty="0"/>
          </a:p>
        </p:txBody>
      </p:sp>
      <p:sp>
        <p:nvSpPr>
          <p:cNvPr id="3" name="Content Placeholder 2"/>
          <p:cNvSpPr>
            <a:spLocks noGrp="1"/>
          </p:cNvSpPr>
          <p:nvPr>
            <p:ph idx="1"/>
          </p:nvPr>
        </p:nvSpPr>
        <p:spPr>
          <a:xfrm>
            <a:off x="365125" y="1538818"/>
            <a:ext cx="8415338" cy="296235"/>
          </a:xfrm>
        </p:spPr>
        <p:txBody>
          <a:bodyPr/>
          <a:lstStyle/>
          <a:p>
            <a:pPr marL="0" indent="0">
              <a:buNone/>
            </a:pPr>
            <a:r>
              <a:rPr lang="en-US" b="1" dirty="0"/>
              <a:t>FIGURE 9-8 </a:t>
            </a:r>
            <a:r>
              <a:rPr lang="en-US" b="1" dirty="0">
                <a:latin typeface="Courier New" panose="02070309020205020404" pitchFamily="49" charset="0"/>
                <a:cs typeface="Courier New" panose="02070309020205020404" pitchFamily="49" charset="0"/>
              </a:rPr>
              <a:t>struct</a:t>
            </a:r>
            <a:r>
              <a:rPr lang="en-US" b="1" dirty="0"/>
              <a:t> </a:t>
            </a:r>
            <a:r>
              <a:rPr lang="en-US" dirty="0"/>
              <a:t>variable </a:t>
            </a:r>
            <a:r>
              <a:rPr lang="en-US" b="1" dirty="0">
                <a:latin typeface="Courier New" panose="02070309020205020404" pitchFamily="49" charset="0"/>
                <a:cs typeface="Courier New" panose="02070309020205020404" pitchFamily="49" charset="0"/>
              </a:rPr>
              <a:t>newEmployee</a:t>
            </a:r>
            <a:endParaRPr lang="en-IN" dirty="0"/>
          </a:p>
        </p:txBody>
      </p:sp>
      <p:pic>
        <p:nvPicPr>
          <p:cNvPr id="8194" name="Content Placeholder 3" descr="A struct variable new Employee. A table new employee has 8 rows. From top to bottom, the row headers are name, emp I D, address, hire Date, quit Date, contact, Dept I D, salary. Name has a table with three rows. Row 1: first. Row 2: middle. Row 3: last. &#10;Emp ID is blank.&#10;Address has a table with five rows. Row 1: address 1. Row 2: address 2. Row 3: city. Row 4: state. Row 5: zip.&#10;Hire Date has a table with three rows. Row 1: month. Row 2: day. Row 3: year.&#10;Quit date has a table with three rows. Row 1: month. Row 2: day. Row 3: year.&#10;contact has a table with five rows. Row 1: phone 1. Row 2: cell phone. 2. Row 3: fax. Row 4: pager. Row 5: e mail.&#10;Dept I D is blank.&#10;Salary is blank."/>
          <p:cNvPicPr>
            <a:picLocks noGrp="1" noChangeAspect="1" noChangeArrowheads="1"/>
          </p:cNvPicPr>
          <p:nvPr>
            <p:ph idx="11"/>
          </p:nvPr>
        </p:nvPicPr>
        <p:blipFill>
          <a:blip r:embed="rId2">
            <a:extLst>
              <a:ext uri="{28A0092B-C50C-407E-A947-70E740481C1C}">
                <a14:useLocalDpi xmlns:a14="http://schemas.microsoft.com/office/drawing/2010/main" val="0"/>
              </a:ext>
            </a:extLst>
          </a:blip>
          <a:srcRect/>
          <a:stretch>
            <a:fillRect/>
          </a:stretch>
        </p:blipFill>
        <p:spPr bwMode="auto">
          <a:xfrm>
            <a:off x="2209800" y="1981200"/>
            <a:ext cx="4299838" cy="4434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845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dirty="0">
                <a:latin typeface="+mn-lt"/>
              </a:rPr>
              <a:t>Quick Review (1 of 2)</a:t>
            </a:r>
          </a:p>
        </p:txBody>
      </p:sp>
      <p:sp>
        <p:nvSpPr>
          <p:cNvPr id="34819" name="Rectangle 3"/>
          <p:cNvSpPr>
            <a:spLocks noGrp="1" noChangeArrowheads="1"/>
          </p:cNvSpPr>
          <p:nvPr>
            <p:ph idx="1"/>
          </p:nvPr>
        </p:nvSpPr>
        <p:spPr>
          <a:xfrm>
            <a:off x="365125" y="1538818"/>
            <a:ext cx="8415338" cy="2651495"/>
          </a:xfrm>
        </p:spPr>
        <p:txBody>
          <a:bodyPr/>
          <a:lstStyle/>
          <a:p>
            <a:pPr eaLnBrk="1" hangingPunct="1"/>
            <a:r>
              <a:rPr lang="en-US" altLang="en-US" dirty="0"/>
              <a:t>A </a:t>
            </a:r>
            <a:r>
              <a:rPr lang="en-US" altLang="en-US" b="1" dirty="0">
                <a:solidFill>
                  <a:srgbClr val="0070C0"/>
                </a:solidFill>
                <a:latin typeface="Courier New" pitchFamily="49" charset="0"/>
              </a:rPr>
              <a:t>struct</a:t>
            </a:r>
            <a:r>
              <a:rPr lang="en-US" altLang="en-US" dirty="0">
                <a:solidFill>
                  <a:srgbClr val="0070C0"/>
                </a:solidFill>
              </a:rPr>
              <a:t> </a:t>
            </a:r>
            <a:r>
              <a:rPr lang="en-US" altLang="en-US" dirty="0"/>
              <a:t>is a collection of a fixed number of components</a:t>
            </a:r>
          </a:p>
          <a:p>
            <a:pPr eaLnBrk="1" hangingPunct="1"/>
            <a:r>
              <a:rPr lang="en-US" altLang="en-US" dirty="0"/>
              <a:t>Components of a </a:t>
            </a:r>
            <a:r>
              <a:rPr lang="en-US" altLang="en-US" b="1" dirty="0">
                <a:solidFill>
                  <a:srgbClr val="0070C0"/>
                </a:solidFill>
                <a:latin typeface="Courier New" panose="02070309020205020404" pitchFamily="49" charset="0"/>
                <a:cs typeface="Courier New" panose="02070309020205020404" pitchFamily="49" charset="0"/>
              </a:rPr>
              <a:t>struct</a:t>
            </a:r>
            <a:r>
              <a:rPr lang="en-US" altLang="en-US" dirty="0">
                <a:solidFill>
                  <a:srgbClr val="0070C0"/>
                </a:solidFill>
              </a:rPr>
              <a:t> </a:t>
            </a:r>
            <a:r>
              <a:rPr lang="en-US" altLang="en-US" dirty="0"/>
              <a:t>can be of different types</a:t>
            </a:r>
          </a:p>
          <a:p>
            <a:pPr lvl="1" eaLnBrk="1" hangingPunct="1"/>
            <a:r>
              <a:rPr lang="en-US" altLang="en-US" dirty="0"/>
              <a:t>Called members</a:t>
            </a:r>
          </a:p>
          <a:p>
            <a:pPr lvl="1" eaLnBrk="1" hangingPunct="1"/>
            <a:r>
              <a:rPr lang="en-US" altLang="en-US" dirty="0"/>
              <a:t>Accessed by name</a:t>
            </a:r>
          </a:p>
          <a:p>
            <a:pPr eaLnBrk="1" hangingPunct="1"/>
            <a:r>
              <a:rPr lang="en-US" altLang="en-US" b="1" dirty="0">
                <a:solidFill>
                  <a:srgbClr val="0070C0"/>
                </a:solidFill>
                <a:latin typeface="Courier New" pitchFamily="49" charset="0"/>
              </a:rPr>
              <a:t>struct</a:t>
            </a:r>
            <a:r>
              <a:rPr lang="en-US" altLang="en-US" dirty="0">
                <a:solidFill>
                  <a:srgbClr val="0070C0"/>
                </a:solidFill>
              </a:rPr>
              <a:t> </a:t>
            </a:r>
            <a:r>
              <a:rPr lang="en-US" altLang="en-US" dirty="0"/>
              <a:t>is a reserved word</a:t>
            </a:r>
          </a:p>
          <a:p>
            <a:pPr eaLnBrk="1" hangingPunct="1"/>
            <a:r>
              <a:rPr lang="en-US" altLang="en-US" dirty="0"/>
              <a:t>No memory is allocated for a </a:t>
            </a:r>
            <a:r>
              <a:rPr lang="en-US" altLang="en-US" b="1" dirty="0">
                <a:solidFill>
                  <a:srgbClr val="0070C0"/>
                </a:solidFill>
                <a:latin typeface="Courier New" pitchFamily="49" charset="0"/>
              </a:rPr>
              <a:t>struct</a:t>
            </a:r>
            <a:endParaRPr lang="en-US" altLang="en-US" b="1" dirty="0">
              <a:solidFill>
                <a:srgbClr val="0070C0"/>
              </a:solidFill>
            </a:endParaRPr>
          </a:p>
          <a:p>
            <a:pPr lvl="1" eaLnBrk="1" hangingPunct="1"/>
            <a:r>
              <a:rPr lang="en-US" altLang="en-US" dirty="0"/>
              <a:t>Memory is allocated only when variables are declared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dirty="0">
                <a:latin typeface="+mn-lt"/>
              </a:rPr>
              <a:t>Quick Review (2 of 2)</a:t>
            </a:r>
          </a:p>
        </p:txBody>
      </p:sp>
      <p:sp>
        <p:nvSpPr>
          <p:cNvPr id="35843" name="Rectangle 3"/>
          <p:cNvSpPr>
            <a:spLocks noGrp="1" noChangeArrowheads="1"/>
          </p:cNvSpPr>
          <p:nvPr>
            <p:ph idx="1"/>
          </p:nvPr>
        </p:nvSpPr>
        <p:spPr>
          <a:xfrm>
            <a:off x="365125" y="1538818"/>
            <a:ext cx="8415338" cy="3156249"/>
          </a:xfrm>
        </p:spPr>
        <p:txBody>
          <a:bodyPr/>
          <a:lstStyle/>
          <a:p>
            <a:r>
              <a:rPr lang="en-US" altLang="en-US" dirty="0"/>
              <a:t>In C++, the dot (</a:t>
            </a:r>
            <a:r>
              <a:rPr lang="en-US" altLang="en-US" b="1" dirty="0">
                <a:latin typeface="Courier New" panose="02070309020205020404" pitchFamily="49" charset="0"/>
                <a:cs typeface="Courier New" panose="02070309020205020404" pitchFamily="49" charset="0"/>
              </a:rPr>
              <a:t>.</a:t>
            </a:r>
            <a:r>
              <a:rPr lang="en-US" altLang="en-US" dirty="0"/>
              <a:t>) operator is called the member access operator</a:t>
            </a:r>
          </a:p>
          <a:p>
            <a:pPr lvl="1"/>
            <a:r>
              <a:rPr lang="en-US" altLang="en-US" dirty="0"/>
              <a:t>Used to access members of a </a:t>
            </a:r>
            <a:r>
              <a:rPr lang="en-US" altLang="en-US" b="1" dirty="0">
                <a:solidFill>
                  <a:srgbClr val="0070C0"/>
                </a:solidFill>
                <a:latin typeface="Courier New" panose="02070309020205020404" pitchFamily="49" charset="0"/>
                <a:cs typeface="Courier New" panose="02070309020205020404" pitchFamily="49" charset="0"/>
              </a:rPr>
              <a:t>struct</a:t>
            </a:r>
          </a:p>
          <a:p>
            <a:r>
              <a:rPr lang="en-US" altLang="en-US" dirty="0"/>
              <a:t>The only built-in operations on a </a:t>
            </a:r>
            <a:r>
              <a:rPr lang="en-US" altLang="en-US" b="1" dirty="0">
                <a:solidFill>
                  <a:srgbClr val="0070C0"/>
                </a:solidFill>
                <a:latin typeface="Courier New" panose="02070309020205020404" pitchFamily="49" charset="0"/>
                <a:cs typeface="Courier New" panose="02070309020205020404" pitchFamily="49" charset="0"/>
              </a:rPr>
              <a:t>struct</a:t>
            </a:r>
            <a:r>
              <a:rPr lang="en-US" altLang="en-US" dirty="0">
                <a:solidFill>
                  <a:srgbClr val="0070C0"/>
                </a:solidFill>
              </a:rPr>
              <a:t> </a:t>
            </a:r>
            <a:r>
              <a:rPr lang="en-US" altLang="en-US" dirty="0"/>
              <a:t>are the assignment and member access operations</a:t>
            </a:r>
          </a:p>
          <a:p>
            <a:r>
              <a:rPr lang="en-US" altLang="en-US" dirty="0"/>
              <a:t>Neither arithmetic nor relational operations are allowed on </a:t>
            </a:r>
            <a:r>
              <a:rPr lang="en-US" altLang="en-US" b="1" dirty="0">
                <a:solidFill>
                  <a:srgbClr val="0070C0"/>
                </a:solidFill>
                <a:latin typeface="Courier New" panose="02070309020205020404" pitchFamily="49" charset="0"/>
                <a:cs typeface="Courier New" panose="02070309020205020404" pitchFamily="49" charset="0"/>
              </a:rPr>
              <a:t>struct</a:t>
            </a:r>
            <a:r>
              <a:rPr lang="en-US" altLang="en-US" dirty="0"/>
              <a:t>s</a:t>
            </a:r>
          </a:p>
          <a:p>
            <a:r>
              <a:rPr lang="en-US" altLang="en-US" dirty="0"/>
              <a:t>A </a:t>
            </a:r>
            <a:r>
              <a:rPr lang="en-US" altLang="en-US" b="1" dirty="0">
                <a:solidFill>
                  <a:srgbClr val="0070C0"/>
                </a:solidFill>
                <a:latin typeface="Courier New" panose="02070309020205020404" pitchFamily="49" charset="0"/>
                <a:cs typeface="Courier New" panose="02070309020205020404" pitchFamily="49" charset="0"/>
              </a:rPr>
              <a:t>struct</a:t>
            </a:r>
            <a:r>
              <a:rPr lang="en-US" altLang="en-US" dirty="0">
                <a:solidFill>
                  <a:srgbClr val="0070C0"/>
                </a:solidFill>
              </a:rPr>
              <a:t> </a:t>
            </a:r>
            <a:r>
              <a:rPr lang="en-US" altLang="en-US" dirty="0"/>
              <a:t>can be passed by value or reference</a:t>
            </a:r>
          </a:p>
          <a:p>
            <a:r>
              <a:rPr lang="en-US" altLang="en-US" dirty="0"/>
              <a:t>A function can return a value of type </a:t>
            </a:r>
            <a:r>
              <a:rPr lang="en-US" altLang="en-US" b="1" dirty="0">
                <a:solidFill>
                  <a:srgbClr val="0070C0"/>
                </a:solidFill>
                <a:latin typeface="Courier New" panose="02070309020205020404" pitchFamily="49" charset="0"/>
                <a:cs typeface="Courier New" panose="02070309020205020404" pitchFamily="49" charset="0"/>
              </a:rPr>
              <a:t>struct</a:t>
            </a:r>
          </a:p>
          <a:p>
            <a:r>
              <a:rPr lang="en-US" altLang="en-US" dirty="0"/>
              <a:t>A </a:t>
            </a:r>
            <a:r>
              <a:rPr lang="en-US" altLang="en-US" b="1" dirty="0">
                <a:solidFill>
                  <a:srgbClr val="0070C0"/>
                </a:solidFill>
                <a:latin typeface="Courier New" panose="02070309020205020404" pitchFamily="49" charset="0"/>
                <a:cs typeface="Courier New" panose="02070309020205020404" pitchFamily="49" charset="0"/>
              </a:rPr>
              <a:t>struct</a:t>
            </a:r>
            <a:r>
              <a:rPr lang="en-US" altLang="en-US" dirty="0">
                <a:solidFill>
                  <a:srgbClr val="0070C0"/>
                </a:solidFill>
              </a:rPr>
              <a:t> </a:t>
            </a:r>
            <a:r>
              <a:rPr lang="en-US" altLang="en-US" dirty="0"/>
              <a:t>can be a member of another </a:t>
            </a:r>
            <a:r>
              <a:rPr lang="en-US" altLang="en-US" b="1" dirty="0">
                <a:solidFill>
                  <a:srgbClr val="0070C0"/>
                </a:solidFill>
                <a:latin typeface="Courier New" panose="02070309020205020404" pitchFamily="49" charset="0"/>
                <a:cs typeface="Courier New" panose="02070309020205020404" pitchFamily="49" charset="0"/>
              </a:rPr>
              <a:t>struct</a:t>
            </a:r>
          </a:p>
        </p:txBody>
      </p:sp>
    </p:spTree>
  </p:cSld>
  <p:clrMapOvr>
    <a:masterClrMapping/>
  </p:clrMapOvr>
</p:sld>
</file>

<file path=ppt/theme/theme1.xml><?xml version="1.0" encoding="utf-8"?>
<a:theme xmlns:a="http://schemas.openxmlformats.org/drawingml/2006/main" name="Malik_cpp">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3141</TotalTime>
  <Words>802</Words>
  <Application>Microsoft Office PowerPoint</Application>
  <PresentationFormat>On-screen Show (4:3)</PresentationFormat>
  <Paragraphs>121</Paragraphs>
  <Slides>22</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Courier New</vt:lpstr>
      <vt:lpstr>Malik_cpp</vt:lpstr>
      <vt:lpstr>Chapter 9</vt:lpstr>
      <vt:lpstr>Objectives (1 of 2)</vt:lpstr>
      <vt:lpstr>Objectives (2 of 2)</vt:lpstr>
      <vt:lpstr>Records (structs) (1 of 3)</vt:lpstr>
      <vt:lpstr>Records (structs) (2 of 3)</vt:lpstr>
      <vt:lpstr>Records (structs) (3 of 3)</vt:lpstr>
      <vt:lpstr>Accessing struct Members (1 of 2)</vt:lpstr>
      <vt:lpstr>Accessing struct Members (2 of 2)</vt:lpstr>
      <vt:lpstr>Assignment (1 of 2)</vt:lpstr>
      <vt:lpstr>Assignment (2 of 2)</vt:lpstr>
      <vt:lpstr>Comparison (Relational Operators)</vt:lpstr>
      <vt:lpstr>Input/Output</vt:lpstr>
      <vt:lpstr>struct Variables and Functions</vt:lpstr>
      <vt:lpstr>Arrays versus structs</vt:lpstr>
      <vt:lpstr>Arrays in structs (1 of 3)</vt:lpstr>
      <vt:lpstr>Arrays in structs (2 of 3)</vt:lpstr>
      <vt:lpstr>Arrays in structs (3 of 3)</vt:lpstr>
      <vt:lpstr>structs in Arrays (1 of 2) </vt:lpstr>
      <vt:lpstr>structs in Arrays (2 of 2)</vt:lpstr>
      <vt:lpstr>structs within a struct</vt:lpstr>
      <vt:lpstr>Quick Review (1 of 2)</vt:lpstr>
      <vt:lpstr>Quick Review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   Program Design Including  Data Structures, Fifth Edition</dc:title>
  <dc:creator>Ang</dc:creator>
  <cp:lastModifiedBy>Mani</cp:lastModifiedBy>
  <cp:revision>185</cp:revision>
  <cp:lastPrinted>2009-04-22T19:24:48Z</cp:lastPrinted>
  <dcterms:created xsi:type="dcterms:W3CDTF">2002-08-16T03:59:06Z</dcterms:created>
  <dcterms:modified xsi:type="dcterms:W3CDTF">2022-03-11T13:24:03Z</dcterms:modified>
</cp:coreProperties>
</file>